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20624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590288"/>
            <a:ext cx="12191695" cy="27432"/>
          </a:xfrm>
          <a:prstGeom prst="rect">
            <a:avLst/>
          </a:prstGeom>
          <a:solidFill>
            <a:srgbClr val="E10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051560"/>
            <a:ext cx="292608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أول ميتنج رسمي في السنة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00200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5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خطة ميتنج </a:t>
            </a:r>
            <a:r>
              <a:rPr sz="54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6324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2000" b="1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مش تيم بيحاول يبان كويس…</a:t>
            </a:r>
          </a:p>
          <a:p>
            <a:pPr algn="r" rtl="1">
              <a:lnSpc>
                <a:spcPct val="140000"/>
              </a:lnSpc>
            </a:pPr>
            <a:r>
              <a:rPr sz="2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تيم بيتبني منتجات حقيقية، وناس حقيقية.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4892040"/>
            <a:ext cx="2492654" cy="548640"/>
          </a:xfrm>
          <a:prstGeom prst="roundRect">
            <a:avLst>
              <a:gd name="adj" fmla="val 50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4992624"/>
            <a:ext cx="2492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⏱  ساعتان كاملتان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0534" y="4892040"/>
            <a:ext cx="2375611" cy="548640"/>
          </a:xfrm>
          <a:prstGeom prst="roundRect">
            <a:avLst>
              <a:gd name="adj" fmla="val 50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0534" y="4992624"/>
            <a:ext cx="23756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🕙  10:00 — 12:00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94745" y="4892040"/>
            <a:ext cx="3546043" cy="548640"/>
          </a:xfrm>
          <a:prstGeom prst="roundRect">
            <a:avLst>
              <a:gd name="adj" fmla="val 50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94745" y="4992624"/>
            <a:ext cx="35460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🎯  استحواذ · تأسيس · تحوّل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02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502920"/>
            <a:ext cx="274320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الجدول الزمني الواقعي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الساعتان،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دقيقة بدقيقة</a:t>
            </a:r>
          </a:p>
        </p:txBody>
      </p:sp>
      <p:sp>
        <p:nvSpPr>
          <p:cNvPr id="9" name="Oval 8"/>
          <p:cNvSpPr/>
          <p:nvPr/>
        </p:nvSpPr>
        <p:spPr>
          <a:xfrm>
            <a:off x="2331720" y="1892807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FFC24B"/>
                </a:solidFill>
                <a:latin typeface="Segoe UI"/>
                <a:cs typeface="Segoe UI"/>
                <a:ea typeface="Segoe UI"/>
              </a:rPr>
              <a:t>10:00 – 10:10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728216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مرحلة الانتظار — 10 دقائق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حضور وتسجيل وتهيئة، من غير بداية رسمية قبل الميعاد.</a:t>
            </a:r>
          </a:p>
        </p:txBody>
      </p:sp>
      <p:sp>
        <p:nvSpPr>
          <p:cNvPr id="13" name="Oval 12"/>
          <p:cNvSpPr/>
          <p:nvPr/>
        </p:nvSpPr>
        <p:spPr>
          <a:xfrm>
            <a:off x="2331720" y="2542032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32304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10:10 – 10:25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377440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432304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الافتتاحية: الهوية + ليه بدأنا بدري — 15 دقيقة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ترحيب، كسر فخ الاعتذار، تعريف مختصر، الجملة التأسيسية.</a:t>
            </a:r>
          </a:p>
        </p:txBody>
      </p:sp>
      <p:sp>
        <p:nvSpPr>
          <p:cNvPr id="17" name="Oval 16"/>
          <p:cNvSpPr/>
          <p:nvPr/>
        </p:nvSpPr>
        <p:spPr>
          <a:xfrm>
            <a:off x="2331720" y="3191256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8152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10:25 – 10:35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026664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081528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ليه من غير فكرة محددة + البرمشن — 10 دقائق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قانون الأساس قبل الفكرة، ونقطة التفويض الرسمي — جملة واحدة واضحة.</a:t>
            </a:r>
          </a:p>
        </p:txBody>
      </p:sp>
      <p:sp>
        <p:nvSpPr>
          <p:cNvPr id="21" name="Oval 20"/>
          <p:cNvSpPr/>
          <p:nvPr/>
        </p:nvSpPr>
        <p:spPr>
          <a:xfrm>
            <a:off x="2331720" y="3840480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10:35 – 11:15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675888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3730752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عروض اللجان (Heads + Monitors) — 40 دقيقة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3 لجان × 12–13 دقيقة: رؤية، تقييم، Roadmap، أدوار، معايير استمرار.</a:t>
            </a:r>
          </a:p>
        </p:txBody>
      </p:sp>
      <p:sp>
        <p:nvSpPr>
          <p:cNvPr id="25" name="Oval 24"/>
          <p:cNvSpPr/>
          <p:nvPr/>
        </p:nvSpPr>
        <p:spPr>
          <a:xfrm>
            <a:off x="2331720" y="4489704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79976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11:15 – 11:25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325112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379976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الصندوق الأسود — أسئلة الفورم — 10 دقائق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رد سريع ومباشر على أكتر الأسئلة تكرارًا، من غير ذكر أسماء.</a:t>
            </a:r>
          </a:p>
        </p:txBody>
      </p:sp>
      <p:sp>
        <p:nvSpPr>
          <p:cNvPr id="29" name="Oval 28"/>
          <p:cNvSpPr/>
          <p:nvPr/>
        </p:nvSpPr>
        <p:spPr>
          <a:xfrm>
            <a:off x="2331720" y="5138928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B815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B81510"/>
                </a:solidFill>
                <a:latin typeface="Segoe UI"/>
                <a:cs typeface="Segoe UI"/>
                <a:ea typeface="Segoe UI"/>
              </a:rPr>
              <a:t>11:25 – 11:55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974336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502920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Mindset + مهارتين بعمق — 30 دقيقة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3 رسائل جوهرية بس، كل واحدة بعمق: عقلية، 80/20، تواصل بحضور.</a:t>
            </a:r>
          </a:p>
        </p:txBody>
      </p:sp>
      <p:sp>
        <p:nvSpPr>
          <p:cNvPr id="33" name="Oval 32"/>
          <p:cNvSpPr/>
          <p:nvPr/>
        </p:nvSpPr>
        <p:spPr>
          <a:xfrm>
            <a:off x="2331720" y="5788152"/>
            <a:ext cx="146304" cy="146304"/>
          </a:xfrm>
          <a:prstGeom prst="ellipse">
            <a:avLst/>
          </a:prstGeom>
          <a:solidFill>
            <a:srgbClr val="08080A"/>
          </a:solidFill>
          <a:ln w="27940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78424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350" b="1" i="0" rtl="1">
                <a:solidFill>
                  <a:srgbClr val="FFC24B"/>
                </a:solidFill>
                <a:latin typeface="Segoe UI"/>
                <a:cs typeface="Segoe UI"/>
                <a:ea typeface="Segoe UI"/>
              </a:rPr>
              <a:t>11:55 – 12:00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5623560"/>
            <a:ext cx="8915400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5678424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الختام والتحوّل — 5 دقائق   </a:t>
            </a: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خلاصة واحدة، تقدير للحضور… وبعدها اللعب يبدأ فورًا بلا فاصل.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03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502920"/>
            <a:ext cx="219456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الافتتاحية · 15 دقيقة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أول 15 دقيقة هدفها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استحواذ الانتباه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، مش سرد إنجازات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🗣  جملة الدخول — وكسر فخ الاعتذار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96312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600"/>
              </a:spcAft>
            </a:pP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«صباح الخير جميعًا… شكرًا لالتزامكم وحضوركم في الميعاد، وشكرًا لانتظاركم.»</a:t>
            </a:r>
          </a:p>
          <a:p>
            <a:pPr algn="r" rtl="1"/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شكرًا على الالتزام — </a:t>
            </a:r>
            <a:r>
              <a:rPr sz="13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مش</a:t>
            </a: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«آسف على التأخير». أول جملة بتحدد نبرة القائد.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8424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🪪  مين أنا — في جملتين بس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96312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600"/>
              </a:spcAft>
            </a:pP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خبرتك التقنية + إنجاز مختصر بأرقام يخلق مصداقية بسرعة، وبعدها فورًا:</a:t>
            </a:r>
          </a:p>
          <a:p>
            <a:pPr algn="r" rtl="1">
              <a:lnSpc>
                <a:spcPct val="140000"/>
              </a:lnSpc>
              <a:spcAft>
                <a:spcPts val="600"/>
              </a:spcAft>
            </a:pPr>
            <a:r>
              <a:rPr sz="13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«أنا مش هنا أقولكم عملت إيه… أنا هنا أوفّرلكم البيئة اللي تخليكم تعملوا أحسن من كده.»</a:t>
            </a:r>
          </a:p>
          <a:p>
            <a:pPr algn="r" rtl="1"/>
            <a:r>
              <a:rPr sz="12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⚠ مفيش قصة حياة. دقيقتين بالظبط.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78807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👻  هوية Phantoms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90872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«إحنا مش تيم بيحاول يبان كويس… إحنا تيم بيتبني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منتجات حقيقية وناس حقيقية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78807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⚓  الجملة التأسيسية — شعار السنة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90872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جملة واحدة قصيرة تتكرر طول السنة وتبقى علامة التيم. بتتعرض في البداية، وتتكرر في الختام، وتبقى على كل حاجة بعد كده.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04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502920"/>
            <a:ext cx="201168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ليه بدأنا بدري · 5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بنشتري وقت…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مش بنسرقه من حد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241010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😵  اللي يبدأ مع أول محاضرة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الضغط الأكاديمي بيسرق فرصة التأسيس الحقيقي.</a:t>
            </a:r>
          </a:p>
          <a:p>
            <a:pPr algn="r" rtl="1"/>
            <a:r>
              <a:rPr sz="1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طول الترم في وضع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رد الفعل — Reactive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: بيلحق بس، بيتعلم في نص طاقة.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0E1C16"/>
          </a:solidFill>
          <a:ln w="15875">
            <a:solidFill>
              <a:srgbClr val="14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7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🎯  إحنا النهاردة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بنبدأ بدري عشان نكون في وضع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المبادرة — Proactive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</a:t>
            </a:r>
          </a:p>
          <a:p>
            <a:pPr algn="r" rtl="1"/>
            <a:r>
              <a:rPr sz="14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إحنا اللي بنتحكم في الوتيرة، وبنبني الأساس بهدوء وعمق قبل ما الزحمة تبدأ.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💡 الأساسيات اللي بنشتغل عليها دلوقتي </a:t>
            </a:r>
            <a:r>
              <a:rPr sz="15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مش حمل زيادة</a:t>
            </a:r>
            <a:r>
              <a:rPr sz="15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— هي أصلًا جزء من منهج السنة دي، بس بندرسها بعمق وتطبيق عملي بدل الحفظ السطحي وقت الامتحان.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05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502920"/>
            <a:ext cx="35204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ليه من غير فكرة محددة · 7 دقائق — Product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قانون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الأساس قبل الفكرة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«سواء اشتريت عربية مانيوال أو أوتوماتيك… لازم تكون متعلّم أساسيات السواقة الأول. لو حددنا فكرة دلوقتي، هنحبس نفسنا في سقف مهاراتنا الحالية. لما كل مسار — سوفت، هارد، AI — يمتلك أدواته بالكامل، هنقدر ننفّذ أي فكرة معقدة تكتسح أي منافسة.»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3602736" cy="169164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393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🧩  الفكرة مش هي القيمة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1148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القيمة الحقيقية هي </a:t>
            </a:r>
            <a:r>
              <a:rPr sz="13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المهارة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اللي هتنفّذ بيها. الأفكار رخيصة، التنفيذ هو اللي نادر.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429000"/>
            <a:ext cx="3602736" cy="169164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6393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⚖️  القاعدة الذهبية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1148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فكرة كويسة + فريق ضعيف = </a:t>
            </a:r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فشل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</a:t>
            </a:r>
          </a:p>
          <a:p>
            <a:pPr algn="r" rtl="1"/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فريق قوي + أي فكرة = </a:t>
            </a:r>
            <a:r>
              <a:rPr sz="135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منتج ينافس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3429000"/>
            <a:ext cx="3602736" cy="169164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363931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🧠  عقلية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41148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مش بتوع «مشروع تخرج يتسلّم»… بتوع منتج حقيقي بيتحلّ بيه مشكلة ناس حقيقية.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🔎 بعدين لما نيجي نختار: 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(1) إيه المشكلة الحقيقية ولمين بالظبط؟  ·  (2) هل حد جاهز يدفع/يستخدم الحل فعلًا؟  ·  (3) إيه أصغر نسخة تجربة (MVP) قبل ما نبني كل حاجة؟ — التفاصيل في المستند المكتوب.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06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502920"/>
            <a:ext cx="160020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البرمشن · 8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2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القوة في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2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الوضوح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2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… مش في الغموض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241010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🚫  اللي منعملوش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منحوّلهاش «سر مرعب غامض» — الغموض الزيادة بيولّد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قلق مش هيبة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</a:t>
            </a:r>
          </a:p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منقولش «ممنوع تتكلم عن البرمشن دي» بنبرة تهديد.</a:t>
            </a:r>
          </a:p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منكررهاش أكتر من مرة — التكرار بيثير الفضول أكتر ما بيرسّخ الهيبة.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0E1C16"/>
          </a:solidFill>
          <a:ln w="15875">
            <a:solidFill>
              <a:srgbClr val="14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✅  الجملة — بحزم وهدوء، مرة واحدة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«إحنا معانا تفويض رسمي إننا نبدأ ونتحرك من بدري. ده امتياز — والتفاصيل دي داخلية وخاصة بالتيم، وممنوع تخرج برا القاعة دي لأسباب تنظيمية، مش لأنه سر مخيف.»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🎯 نفس القوة، من غير ما الناس تحس إنك بتخبي حاجة وحشة. </a:t>
            </a:r>
            <a:r>
              <a:rPr sz="15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جملة واحدة واضحة… وكفاية.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07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02920"/>
            <a:ext cx="411480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عروض اللجان · 40 دقيقة — Heads + Monitors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3 لجان ×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12–13 دقيقة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… وكل لجنة تغطي 5 حاجات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476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1 · الرؤية الفنية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865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إيه مسار اللجنة (سوفت / هارد / AI)، ومين المفروض نوصل فين بنهاية الترم.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830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19476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2 · تقييم الفترة السابقة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3865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تقييم صريح لجاهزية الأعضاء — فين القوة وفين الفجوة.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830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9476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3 · الـ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865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خطة الترم الأول بتواريخ واضحة، مش عناوين.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5478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4 · الأدوار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9867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مين بيعمل إيه بالظبط — مفيش «هنعمل» من غير صاحب.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3832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5" y="35478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5 · معايير الاستمرار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39867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نظام الـ Strikes والالتزام — واضح من الأول، من غير مفاجآت.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383280"/>
            <a:ext cx="3602736" cy="141732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3547872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⏱  انضباط التوقيت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986784"/>
            <a:ext cx="31455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يُبلَّغوا قبلها بيوم إنك هتوقفهم لو زادوا. القائد واقف جنبهم — مش قاعد.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تسلسل التواصل الرسمي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2347" y="5486400"/>
            <a:ext cx="2331720" cy="77724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347" y="55961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Monitor</a:t>
            </a:r>
          </a:p>
          <a:p>
            <a:pPr algn="ctr" rtl="1">
              <a:lnSpc>
                <a:spcPct val="100000"/>
              </a:lnSpc>
            </a:pPr>
            <a:r>
              <a:rPr sz="1050" b="0" i="0" rtl="1">
                <a:solidFill>
                  <a:srgbClr val="8C8C99"/>
                </a:solidFill>
                <a:latin typeface="Cairo"/>
                <a:cs typeface="Cairo"/>
                <a:ea typeface="Cairo"/>
              </a:rPr>
              <a:t>متابعة يومية + أعذار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3211" y="5650992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4107" y="5486400"/>
            <a:ext cx="2331720" cy="77724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4107" y="55961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Head</a:t>
            </a:r>
          </a:p>
          <a:p>
            <a:pPr algn="ctr" rtl="1">
              <a:lnSpc>
                <a:spcPct val="100000"/>
              </a:lnSpc>
            </a:pPr>
            <a:r>
              <a:rPr sz="1050" b="0" i="0" rtl="1">
                <a:solidFill>
                  <a:srgbClr val="8C8C99"/>
                </a:solidFill>
                <a:latin typeface="Cairo"/>
                <a:cs typeface="Cairo"/>
                <a:ea typeface="Cairo"/>
              </a:rPr>
              <a:t>مشاكل فنية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4971" y="5650992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5867" y="5486400"/>
            <a:ext cx="2331720" cy="77724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5867" y="55961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سهيلة</a:t>
            </a:r>
          </a:p>
          <a:p>
            <a:pPr algn="ctr" rtl="1"/>
            <a:r>
              <a:rPr sz="6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6731" y="5650992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7627" y="5486400"/>
            <a:ext cx="2331720" cy="77724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7627" y="55961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سيف</a:t>
            </a:r>
          </a:p>
          <a:p>
            <a:pPr algn="ctr" rtl="1"/>
            <a:r>
              <a:rPr sz="6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08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640080"/>
            <a:ext cx="228600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الصندوق الأسود · 10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2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أسئلة الفورم —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2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إحنا بنسمع فعلًا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517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🕵  من غير أسماء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نقرا أكتر 3–4 أسئلة تكرارًا ونجاوب عليها مباشرة — الخصوصية محفوظة، والجرأة مكافأة.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377440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6517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⚡  رد سريع ومباشر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من غير لف ولا دفاعية. سؤال واضح يستحق إجابة واضحة.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377440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26517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⏰  ركّز على سؤال واحد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أي سؤال عن الخوف من إدارة الوقت مع الدراسة ياخد وقت أكبر — لأنه بيفتح الفقرة الجاية مباشرة.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937760"/>
            <a:ext cx="9235440" cy="1005840"/>
          </a:xfrm>
          <a:prstGeom prst="roundRect">
            <a:avLst>
              <a:gd name="adj" fmla="val 10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5138928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الرسالة الضمنية: «مش بس بنتكلم فيكم… إحنا بنقرا اللي بتكتبوه، وأسئلتكم بتشكّل الميتنج.»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09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502920"/>
            <a:ext cx="475488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الفقرة الجوهرية · 30 دقيقة — 3 رسائل بعمق، مش عشرة سطحيين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أولًا: الـ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Mindset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  · 8 دقائق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0E1C16"/>
          </a:solidFill>
          <a:ln w="15875">
            <a:solidFill>
              <a:srgbClr val="14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🧊  الفكرة المحورية: افصل المشاعر عن الالتزام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5000"/>
              </a:lnSpc>
            </a:pPr>
            <a:r>
              <a:rPr sz="15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«ضغطك، مزاجك، ظروفك — دي حاجات إنسانية وطبيعية ومحترمة. لكن التزامك وكلمتك قدام التيم… حاجة تانية خالص.»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4892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المحترف الحقيقي مش اللي معندوش ضغط — هو اللي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بيسلّم حتى وهو تحت ضغط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🥊  الفكرة التانية: الفعل بدل الكلام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«متقولش هتعمل إيه… اعمله، وخلّي النتيجة تتكلم.»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1480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الكلام الكتير عن النية بيستهلك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نفس الطاقة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اللي المفروض تتصرف في التنفيذ.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10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23774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تانيًا: مهارة الوقت · 10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95000"/>
              </a:lnSpc>
            </a:pPr>
            <a:r>
              <a:rPr sz="96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80/20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371600"/>
            <a:ext cx="7406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قاعدة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پاريتو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 — ركّز في الـ 20% اللي بتفرق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14600"/>
            <a:ext cx="7406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80% من نتيجتك بتيجي من </a:t>
            </a:r>
            <a:r>
              <a:rPr sz="1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20% بس</a:t>
            </a:r>
            <a:r>
              <a:rPr sz="16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من مجهودك. المشكلة إن أغلبنا بيوزّع وقته بالتساوي على كل حاجة، فيضيع وقت في تفاصيل مالهاش تأثير.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3602736" cy="201168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114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🎯  قبل أي تاسك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548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اسأل: «إيه الجزء اللي لو خلصته… هيخلي 80% من التاسك خلص؟» وابدأ بيه.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886200"/>
            <a:ext cx="3602736" cy="201168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4114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📚  في المذاكرة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7548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20% من المنهج (المفاهيم الأساسية) بتغطّي 80% من فهمك للباقي — ركّز عليها الأول.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3886200"/>
            <a:ext cx="3602736" cy="201168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4114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🌅  أول ساعة في يومك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475488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أعلى طاقة ذهنية تروح للمهمة الأهم — مش للإيميلات والتنظيف السطحي.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11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502920"/>
            <a:ext cx="310896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تطبيق إيقاع التيم — من المستند المكتوب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الـ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12 Week Year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3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 — السنة مبقتش 12 شهر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🐢  ليه الأهداف السنوية بتفشل؟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4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التخطيط السنوي بيخلي الدماغ يأجّل لآخر 3 شهور — الإحساس بالإلحاح بيموت، وكل حاجة «بكرة».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🔥  الحل: كل 12 أسبوع = سنة كاملة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4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اتعامل مع كل 12 أسبوع كأنها سنة مستقلة، بهدف واضح وخطة أسبوعية — الإلحاح بيفضل شغّال طول الوقت.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7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🎯 تطبيق Phantoms: </a:t>
            </a:r>
            <a:r>
              <a:rPr sz="1550" b="0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كل ربع سنة (≈ ترم دراسي) ليه هدف تقني واحد واضح ومحدد وقابل للقياس — مثلاً «مشروع كامل جاهز» أو «مهارة معينة متقَنة 100%» — وكل أسبوع فيه تسليم صغير بيقرّب من الهدف.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12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502920"/>
            <a:ext cx="251460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تالتًا: مهارة التواصل · 12 دقيقة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الحضور الواثق —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متتكلمش زي الموظف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394960" cy="2606040"/>
          </a:xfrm>
          <a:prstGeom prst="roundRect">
            <a:avLst>
              <a:gd name="adj" fmla="val 6000"/>
            </a:avLst>
          </a:prstGeom>
          <a:solidFill>
            <a:srgbClr val="241010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🙊  الموظف — اللي بيتنسى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892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«أنا عملت اللي طلبتوه.»</a:t>
            </a:r>
          </a:p>
          <a:p>
            <a:pPr algn="r" rtl="1"/>
            <a:r>
              <a:rPr sz="15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بيشتغل بصمت، يوافق أول واحد، بيتكلم آخره من غير رأي، ويعتذر قبل ما يقول رأيه.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94960" cy="2606040"/>
          </a:xfrm>
          <a:prstGeom prst="roundRect">
            <a:avLst>
              <a:gd name="adj" fmla="val 6000"/>
            </a:avLst>
          </a:prstGeom>
          <a:solidFill>
            <a:srgbClr val="0E1C16"/>
          </a:solidFill>
          <a:ln w="15875">
            <a:solidFill>
              <a:srgbClr val="14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🦅  صاحب المسؤولية — اللي بيتذكر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892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«عملت X، ولاحظت Y، فعملت Z كمان.»</a:t>
            </a:r>
          </a:p>
          <a:p>
            <a:pPr algn="r" rtl="1"/>
            <a:r>
              <a:rPr sz="1550" b="1" i="0" rtl="1">
                <a:solidFill>
                  <a:srgbClr val="3DDC97"/>
                </a:solidFill>
                <a:latin typeface="Cairo"/>
                <a:cs typeface="Cairo"/>
                <a:ea typeface="Cairo"/>
              </a:rPr>
              <a:t>◈  </a:t>
            </a:r>
            <a:r>
              <a:rPr sz="14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عنده موقف واضح: «أنا شايف الحل التاني أفضل، وده السبب» — بهدوء وثبات، من غير تلعثم.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C1012"/>
          </a:solidFill>
          <a:ln w="12700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2803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💪 الثقة مش عناد ولا رفع صوت — إنك تقول رأيك بوضوح وهدوء، من غير ما تعتذر عن رأيك قبل ما تقوله. الشغل الكويس </a:t>
            </a:r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مش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بيتكلم عن نفسه لوحده.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6177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82803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🧪 تمرين يتنفّذ من بكرة: 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قبل أي اجتماع حضّر </a:t>
            </a:r>
            <a:r>
              <a:rPr sz="13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جملة واحدة واضحة</a:t>
            </a: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 تعبّر بيها عن رأيك. متدخلش فاضي تستني — تيجي مجهّز بحلول مش أسئلة، وبأرقام مش انطباعات.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13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502920"/>
            <a:ext cx="292608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10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30 ثانية لكل كتاب — التفاصيل في المستند المكتوب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مكتبة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Phantoms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9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 — العادات والعقل والتركيز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688336" cy="41148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tomic-habits.jpg"/>
          <p:cNvPicPr>
            <a:picLocks noChangeAspect="1"/>
          </p:cNvPicPr>
          <p:nvPr/>
        </p:nvPicPr>
        <p:blipFill>
          <a:blip r:embed="rId2"/>
          <a:srcRect t="16000" b="16000"/>
          <a:stretch>
            <a:fillRect/>
          </a:stretch>
        </p:blipFill>
        <p:spPr>
          <a:xfrm>
            <a:off x="749808" y="1444752"/>
            <a:ext cx="2286000" cy="3429000"/>
          </a:xfrm>
          <a:prstGeom prst="rect">
            <a:avLst/>
          </a:prstGeom>
          <a:ln w="19050">
            <a:solidFill>
              <a:srgbClr val="6E141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49808" y="4526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Atomic Habits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389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James 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بناء عادة التطوّر بزيادات صغيرة يومية من غير ضغط — 1% كل يوم.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783080"/>
            <a:ext cx="2688336" cy="41148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ep-work.jpg"/>
          <p:cNvPicPr>
            <a:picLocks noChangeAspect="1"/>
          </p:cNvPicPr>
          <p:nvPr/>
        </p:nvPicPr>
        <p:blipFill>
          <a:blip r:embed="rId3"/>
          <a:srcRect t="16886" b="16886"/>
          <a:stretch>
            <a:fillRect/>
          </a:stretch>
        </p:blipFill>
        <p:spPr>
          <a:xfrm>
            <a:off x="3547872" y="1398890"/>
            <a:ext cx="2286000" cy="3520722"/>
          </a:xfrm>
          <a:prstGeom prst="rect">
            <a:avLst/>
          </a:prstGeom>
          <a:ln w="19050">
            <a:solidFill>
              <a:srgbClr val="6E141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547872" y="4526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Deep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51389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Cal Newport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544068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ساعتين تركيز عميق بتنتجوا أكتر من أسبوع كامل من التشتّت.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783080"/>
            <a:ext cx="2688336" cy="41148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2-week-year.png"/>
          <p:cNvPicPr>
            <a:picLocks noChangeAspect="1"/>
          </p:cNvPicPr>
          <p:nvPr/>
        </p:nvPicPr>
        <p:blipFill>
          <a:blip r:embed="rId4"/>
          <a:srcRect l="22426" r="22426"/>
          <a:stretch>
            <a:fillRect/>
          </a:stretch>
        </p:blipFill>
        <p:spPr>
          <a:xfrm>
            <a:off x="5416296" y="1993392"/>
            <a:ext cx="4145279" cy="2331720"/>
          </a:xfrm>
          <a:prstGeom prst="rect">
            <a:avLst/>
          </a:prstGeom>
          <a:ln w="19050">
            <a:solidFill>
              <a:srgbClr val="6E141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345936" y="4526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The 12 Week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51389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B. Moran &amp; M. Lennington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544068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التنفيذ في دورات قصيرة عالية الكثافة — بدل التأجيل السنوي.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783080"/>
            <a:ext cx="2688336" cy="41148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ily-stoic.jpg"/>
          <p:cNvPicPr>
            <a:picLocks noChangeAspect="1"/>
          </p:cNvPicPr>
          <p:nvPr/>
        </p:nvPicPr>
        <p:blipFill>
          <a:blip r:embed="rId5"/>
          <a:srcRect l="980" r="980"/>
          <a:stretch>
            <a:fillRect/>
          </a:stretch>
        </p:blipFill>
        <p:spPr>
          <a:xfrm>
            <a:off x="9121140" y="1993392"/>
            <a:ext cx="2331720" cy="2331720"/>
          </a:xfrm>
          <a:prstGeom prst="rect">
            <a:avLst/>
          </a:prstGeom>
          <a:ln w="19050">
            <a:solidFill>
              <a:srgbClr val="6E1410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9144000" y="45262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5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The Daily Stoic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1389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Ryan Holiday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44068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ثبات انفعالي تحت الضغط — حكمة يومية للسنة كاملة.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14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pic>
        <p:nvPicPr>
          <p:cNvPr id="7" name="Picture 6" descr="bravo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3360004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548640"/>
            <a:ext cx="384048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📌 تحليل كامل — ليه بنتعلم منه بالظبط؟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097280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8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د. محمود برافو 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8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Dr. Mahmoud Bravo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6596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مدرب شركات دولي وكوتش أداء، متحدث رئيسي (Keynote)، وخبير تسويق وتواصل في الرعاية الصحية — والأهم: بنى مهارات العرض والحضور دي من مشوار تنفيذي حقيقي، مش من كتب.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97180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3072384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2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1500+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529584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مشروع عبر MENA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97180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072384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2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3000+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29584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متخصص درّبهم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97180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072384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2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29584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حدث كمتحدث رئيسي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97180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072384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2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529584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جائزة عالمية وإقليمية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11480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3088" y="4261104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46634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صيدلة عين شمس + دبلوم تسويق AUC → Novartis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11480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4261104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2013–16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6634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Brand Manager: نمو 35% فوق التارجت + MBA جنيف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411480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7" y="4261104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2017–19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46634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Abbott Nutrition ثم Medtronic — تسويق إقليمي في 9 دول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11480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4261104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2021–24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7" y="46634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MD لـ Healthcare COMs · DBA · رئيس تميز الأعمال بـ Utopia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76072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5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المصادر: mahmoudbravo.com · صفحة About · @drmahmoudbravo · TEDxEJUST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15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02920"/>
            <a:ext cx="347472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تحليل الأسلوب — إيه اللي بيخليه مؤثر؟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5 دروس من برافو…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بنطبّقها في ميتنج النهاردة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68112" cy="16002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4965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1 · المزج بين الاستراتيجي والإنساني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4919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موقعه بينصّ عليها: عمق استراتيجي بتواضع وتعاطف. الدرس: الحزم في الرسالة، الدفء في التوصيل — ده توازن «البرمشن» و«التحوّل لصحاب» في خطتنا.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468112" cy="16002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965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2 · المصداقية بالأرقام مش بالكلام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87168"/>
            <a:ext cx="4919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1500+ مشروع، 3000+ متدرب، 9 دول. الدرس: في أول جملتين للتعريف — اضرب بإنجاز مختصر بأرقام واقفل بسرعة. الأرقام بتتكلم.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02152"/>
            <a:ext cx="5468112" cy="16002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685032"/>
            <a:ext cx="4965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3 · الصوت أول سلاح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51960"/>
            <a:ext cx="4919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محتواه كله عن الصوت: «Don't Underestimate Your Voice» و«Find Your Authority». الدرس: أول 30 ثانية افتتح بصوت ثابت ومرتاح — الانطباع الأول سمعي.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02152"/>
            <a:ext cx="5468112" cy="16002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85032"/>
            <a:ext cx="49651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4 · التأثير الهادئ بدل البيع العنيف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4919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أشهر حواراته: «كيف تبيع دون أن تبيع — فن التأثير الهادئ». الدرس: القيادة بالإقناع الهادي أقوى من التهديد — الـ Strikes بهدوء وحزم.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👂 5 · الاستماع النشط: </a:t>
            </a:r>
            <a:r>
              <a:rPr sz="1350" b="0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حلقاته عن Active Listening مع المشاعر — ده اللي بيخلي «الصندوق الأسود» مش فقرة شكلية. وقانونه: «الخبرة التقنية بتفتحلك الباب… لكن المهارات الناعمة هي اللي بتحدّد توصل لفين.»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16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02920"/>
            <a:ext cx="3749039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المستند المكتوب — يترسل بعد الميتنج بساعات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اللي هنقوله 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بعمق في الجروب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… بدل ما يضيع في الزحمة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68112" cy="155448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📅  الـ 12 Week Year خطوة بخطوة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الفكرة كاملة + التطبيق على التيم: هدف ربعي محدد، خطة أسبوعية، تسليم أسبوعي صغير.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68112" cy="155448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🧭  إطار اختيار فكرة المشروع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Product-Market Fit مبسّط: ابدأ من مشكلة حقيقية → مين المستخدم؟ → ابنِ أبسط نسخة (MVP) وجرّبها بسرعة.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39"/>
            <a:ext cx="5468112" cy="155448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4903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📚  ملخصات أطول للكتب الأربعة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97679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Atomic Habits · Deep Work · 12 Week Year · The Daily Stoic — نقاط قابلة للتطبيق مش مراجعات.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39"/>
            <a:ext cx="5468112" cy="155448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15875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🗺️  الـ Roadmap الكامل بالتواريخ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79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خطة الترم الأول لكل لجنة بتواريخها — مرجع دائم يرجعوله في أي وقت.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000"/>
            </a:avLst>
          </a:prstGeom>
          <a:solidFill>
            <a:srgbClr val="1C1012"/>
          </a:solidFill>
          <a:ln w="12700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⏱ لو الوقت ضاق: </a:t>
            </a:r>
            <a:r>
              <a:rPr sz="1350" b="0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اختصر عروض اللجان لـ 10 دقائق بدل 13 — ده يوفّر 9 دقايق تروح لفقرة الـ Mindset. المكتوب يفضل هو شبكة الأمان.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/>
            <a:r>
              <a:rPr sz="1000" b="1" i="0" rtl="1">
                <a:solidFill>
                  <a:srgbClr val="E10B06"/>
                </a:solidFill>
                <a:latin typeface="Segoe UI"/>
                <a:cs typeface="Segoe UI"/>
                <a:ea typeface="Segoe UI"/>
              </a:rPr>
              <a:t>PHANTOMS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 —  MEETING 01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i="0" rtl="1">
                <a:solidFill>
                  <a:srgbClr val="F4F4F7"/>
                </a:solidFill>
                <a:latin typeface="Segoe UI"/>
                <a:cs typeface="Segoe UI"/>
                <a:ea typeface="Segoe UI"/>
              </a:rPr>
              <a:t>17</a:t>
            </a:r>
            <a:r>
              <a:rPr sz="1000" b="0" i="0" rtl="1">
                <a:solidFill>
                  <a:srgbClr val="8C8C99"/>
                </a:solidFill>
                <a:latin typeface="Segoe UI"/>
                <a:cs typeface="Segoe UI"/>
                <a:ea typeface="Segoe UI"/>
              </a:rPr>
              <a:t>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640080"/>
            <a:ext cx="19202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09728" rIns="109728"/>
          <a:lstStyle/>
          <a:p>
            <a:pPr algn="ctr" rtl="1"/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الختام · 5 دقائق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30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الخلاصة في جملة واحدة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9235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5000"/>
              </a:lnSpc>
              <a:spcAft>
                <a:spcPts val="600"/>
              </a:spcAft>
            </a:pPr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«النهاردة مش بس سمعتوا خطة…</a:t>
            </a:r>
          </a:p>
          <a:p>
            <a:pPr algn="ctr" rtl="1"/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انتوا بقيتوا جزء من </a:t>
            </a:r>
            <a:r>
              <a:rPr sz="2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كيان بيصنع فرق</a:t>
            </a:r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602736" cy="18288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51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🙏  قدّر الحضور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89204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كل واحد يحس إنه اتقدّر لالتزامه — مش إنه اتهدّد بس.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4023360"/>
            <a:ext cx="3602736" cy="18288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4251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🔁  كرّر الجملة التأسيسية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89204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الشعار اللي افتتحت بيه يتقفل بيه — بيثبت في الذاكرة.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4023360"/>
            <a:ext cx="3602736" cy="1828800"/>
          </a:xfrm>
          <a:prstGeom prst="roundRect">
            <a:avLst>
              <a:gd name="adj" fmla="val 6000"/>
            </a:avLst>
          </a:prstGeom>
          <a:solidFill>
            <a:srgbClr val="1C1012"/>
          </a:solidFill>
          <a:ln w="15875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4251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5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🔻  انزل من المنصة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489204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50" b="0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ابتسامة، تشمير كم، وجلوس وسط التيم — الإشارة الجسدية أقوى من كلام.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377440"/>
            <a:ext cx="5669280" cy="5669280"/>
          </a:xfrm>
          <a:prstGeom prst="ellipse">
            <a:avLst/>
          </a:prstGeom>
          <a:solidFill>
            <a:srgbClr val="2A060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685800"/>
            <a:ext cx="2377440" cy="2377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08960" y="3246120"/>
            <a:ext cx="5971032" cy="22860"/>
          </a:xfrm>
          <a:prstGeom prst="rect">
            <a:avLst/>
          </a:prstGeom>
          <a:solidFill>
            <a:srgbClr val="E10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4290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40000"/>
              </a:lnSpc>
              <a:spcAft>
                <a:spcPts val="800"/>
              </a:spcAft>
            </a:pPr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«لحد هنا… كلام الشغل والرسميات خلص.</a:t>
            </a:r>
          </a:p>
          <a:p>
            <a:pPr algn="ctr" rtl="1"/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من اللحظة دي إحنا </a:t>
            </a:r>
            <a:r>
              <a:rPr sz="2600" b="1" i="0" rtl="1">
                <a:solidFill>
                  <a:srgbClr val="E10B06"/>
                </a:solidFill>
                <a:latin typeface="Cairo"/>
                <a:cs typeface="Cairo"/>
                <a:ea typeface="Cairo"/>
              </a:rPr>
              <a:t>إخوات وصحاب</a:t>
            </a:r>
            <a:r>
              <a:rPr sz="26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07492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40000"/>
              </a:lnSpc>
              <a:spcAft>
                <a:spcPts val="600"/>
              </a:spcAft>
            </a:pPr>
            <a:r>
              <a:rPr sz="1600" b="1" i="0" rtl="1">
                <a:solidFill>
                  <a:srgbClr val="C6C6CF"/>
                </a:solidFill>
                <a:latin typeface="Cairo"/>
                <a:cs typeface="Cairo"/>
                <a:ea typeface="Cairo"/>
              </a:rPr>
              <a:t>يلا نفصّل… ونشوف مين هيسد ومين هيخسر في اللعب. 🎮</a:t>
            </a:r>
          </a:p>
          <a:p>
            <a:pPr algn="ctr" rtl="1">
              <a:lnSpc>
                <a:spcPct val="135000"/>
              </a:lnSpc>
            </a:pPr>
            <a:r>
              <a:rPr sz="1350" b="1" i="0" rtl="1">
                <a:solidFill>
                  <a:srgbClr val="FFC24B"/>
                </a:solidFill>
                <a:latin typeface="Cairo"/>
                <a:cs typeface="Cairo"/>
                <a:ea typeface="Cairo"/>
              </a:rPr>
              <a:t>اللعب يبدأ فورًا — بلا فاصل زمني. الانتقال المفاجئ نفسه هو اللي بيكسر التوتر.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6126480"/>
            <a:ext cx="3959352" cy="502920"/>
          </a:xfrm>
          <a:prstGeom prst="roundRect">
            <a:avLst>
              <a:gd name="adj" fmla="val 50000"/>
            </a:avLst>
          </a:prstGeom>
          <a:solidFill>
            <a:srgbClr val="1C1012"/>
          </a:solidFill>
          <a:ln w="12700">
            <a:solidFill>
              <a:srgbClr val="6E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6199632"/>
            <a:ext cx="3959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00" b="1" i="0" rtl="1">
                <a:solidFill>
                  <a:srgbClr val="F4F4F7"/>
                </a:solidFill>
                <a:latin typeface="Cairo"/>
                <a:cs typeface="Cairo"/>
                <a:ea typeface="Cairo"/>
              </a:rPr>
              <a:t>👻  Phantoms — السنة دي بتتفرق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
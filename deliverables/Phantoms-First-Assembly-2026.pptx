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شغّل السلايد دي أثناء دخول الأعضاء. استقبل الناس بالاسم، وخلي الموسيقى خفيفة. لا تبدأ اعتذارات؛ البداية الرسمية 10:10.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ادخل بالجملة المكتوبة حرفياً، ثم اسكت ثانية. نبرة هادئة وواثقة. الهدف هنا الاستحواذ على الانتباه، لا سرد الإنجازات.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الخريطة بسرعة. لا تقرأ كل سطر؛ ركّز على أننا سنسمع، نحدد طريقة العمل، ثم ننهي الرسميات في موعدها.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تعريفك الشخصي جملتان فقط: خبرتك + أقوى إنجاز رقمي موثوق. استبدل الحقل الصغير قبل العرض. اختم بأن دورك صناعة البيئة لا استعراض السيرة.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قارن بوضوح بين Reactive وProactive. الأساسيات الحالية ليست حملاً إضافياً؛ هي نفس مادة السنة ولكن بعمق وتطبيق قبل ضغط الترم.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تشبيه العربية مرة واحدة فقط. الفكرة: لو اخترنا المشروع الآن سنحبس أنفسنا داخل سقف مهاراتنا الحالية.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ازرع الأسئلة الثلاثة ولا تفتح ورشة اختيار فكرة الآن. قل بوضوح: سنعود لها بعد امتلاك الأدوات، وليس لأننا بلا اتجاه.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الصياغة الهادئة كما هي. لا تكرر كلمة السرية، ولا تصنع غموضاً مبالغاً فيه. الحزم مرة واحدة يكفي.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قف بجوار المتحدثين ولا تجلس. كل لجنة 12 دقيقة + انتقال سريع. نبّه قبلها بيوم أنك ستوقف العرض عند انتهاء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هي الشاشة المرجعية أثناء تبديل اللجان. المطلوب من Head + Monitor: كلام محدد وقابل للقياس، لا عناوين عامة.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أن التصعيد ليس تجاوزاً للأدوار. الأعذار والمتابعة اليومية تبدأ من Monitor، والمشكلة الفنية من Head، ثم سهيلة، ثم سيف عند الحاجة.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اختر 3–4 أسئلة متكررة فقط، من غير أسماء. أعطِ مساحة أكبر لسؤال إدارة الوقت لأنه جسر طبيعي للفقرة التالية.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تقلل من ضغط أي شخص. فرّق بين احترام الظروف وبين اختفاء المسؤولية. المحترف يتواصل مبكراً، يعيد التخطيط، ثم يسلّم.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منهم اختيار تاسك حالي وتحديد الجزء صاحب أكبر أثر. المثال الأكاديمي: المفاهيم والأسئلة المتكررة أولاً، لا ترتيب صفحات الكتاب.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الفكرة فقط، لا التفاصيل. كل دورة لها نتيجة واحدة قابلة للقياس وتسليم أسبوعي. التطبيق الكامل موجود في الملحق الذي سيرسل بعد الاجتماع.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الثقة ليست صوتاً عالياً ولا عناداً. المقصود أن تأتي بحل، تتكلم بأرقام، وتعلن موقفاً واضحاً باحترام.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المثالين بصوتين مختلفين. اختم بالتمرين: قبل أي اجتماع، حضّر رأياً واحداً وسببه، ولا تدخل فاضي تستنى رأي الأغلبية.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ثانية كحد أقصى لكل كتاب. لا تلخّص الفصول. اربط كل كتاب بأداة واحدة، وقل إن الملخصات الكاملة ستصل مكتوبة.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قدّر الحضور والالتزام أولاً. قل الخلاصة، ثم انتقل فوراً إلى السلايد التالي من غير أسئلة ولا فاصل.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ابتسم، شمّر الكم، انزل من مكان المنصة، وابدأ اللعب فوراً. الانتقال المفاجئ نفسه هو ما يكسر التوتر.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بداية الملحق. لا تعرض هذه الصفحات في الاجتماع إلا عند الحاجة. أرسل ملف العرض بعد ساعات من الاجتماع.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النسخة المكتوبة: خطوة بخطوة لتطبيق النظام على كل لجنة، مع هدف واضح وقياس أسبوعي ومراجعة دورية.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فرّق بين Lag indicator: النتيجة النهائية، وLead indicator: السلوك الأسبوعي الذي يصنعها. راقب الاثنين.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الإطار يستخدم لاحقاً في جلسة اختيار المشروع. لا نختار التقنية أولاً؛ نختار مستخدماً ومشكلة وسلوكاً قابلاً للرصد.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الـMVP ليس نسخة سيئة من المنتج؛ هو أصغر تجربة تختبر أخطر افتراض بسرعة وبتكلفة قليلة.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أرسل هذه الصفحة كمرجع. المطلوب تطبيق فكرة واحدة من كل كتاب، لا تحويل القراءة إلى مهمة استعراضية.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هيكل زمني موحّد. على رؤساء اللجان استبدال الوصف العام بالتسليمات الفنية والتواريخ المعتمدة قبل إرسال النسخة النهائية.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NTOMS_DARK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NTOMS_APPENDIX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C7FF42">
              <a:alpha val="3500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C7FF42">
              <a:alpha val="12000"/>
            </a:srgbClr>
          </a:solidFill>
          <a:ln>
            <a:solidFill>
              <a:srgbClr val="C7FF42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البداية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— 10:10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85800" y="1024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SIGNAL / 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85800" y="14813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بنبدأ</a:t>
            </a:r>
            <a:endParaRPr lang="en-US" sz="5000" dirty="0"/>
          </a:p>
        </p:txBody>
      </p:sp>
      <p:sp>
        <p:nvSpPr>
          <p:cNvPr id="43" name="Text 40"/>
          <p:cNvSpPr/>
          <p:nvPr/>
        </p:nvSpPr>
        <p:spPr>
          <a:xfrm>
            <a:off x="685800" y="201168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شوية.</a:t>
            </a:r>
            <a:endParaRPr lang="en-US" sz="5000" dirty="0"/>
          </a:p>
        </p:txBody>
      </p:sp>
      <p:sp>
        <p:nvSpPr>
          <p:cNvPr id="44" name="Text 41"/>
          <p:cNvSpPr/>
          <p:nvPr/>
        </p:nvSpPr>
        <p:spPr>
          <a:xfrm>
            <a:off x="685800" y="288036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 مكانك. اعرف اللي جنبك.</a:t>
            </a:r>
            <a:endParaRPr lang="en-US" sz="1700" dirty="0"/>
          </a:p>
          <a:p>
            <a:pPr rtl="1" algn="r" indent="0" marL="0">
              <a:buNone/>
            </a:pPr>
            <a:r>
              <a:rPr lang="en-US" sz="17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وسيـب الموبايل دقيقتين.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685800" y="4096512"/>
            <a:ext cx="2240280" cy="91440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889504" y="4096512"/>
            <a:ext cx="36576" cy="91440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68680" y="4279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914400" y="4572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البداية الرسمية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914400" y="5038344"/>
            <a:ext cx="1783080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نبدأ في الميعاد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090672" y="4096512"/>
            <a:ext cx="2240280" cy="91440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294376" y="4096512"/>
            <a:ext cx="36576" cy="91440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73552" y="42793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MIN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3319272" y="4572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مدة الاجتماع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3319272" y="5038344"/>
            <a:ext cx="1783080" cy="-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12:00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400800" y="777240"/>
            <a:ext cx="4754880" cy="4754880"/>
          </a:xfrm>
          <a:prstGeom prst="ellipse">
            <a:avLst/>
          </a:prstGeom>
          <a:solidFill>
            <a:srgbClr val="C7FF42">
              <a:alpha val="0"/>
            </a:srgbClr>
          </a:solidFill>
          <a:ln w="15240">
            <a:solidFill>
              <a:srgbClr val="C7FF42">
                <a:alpha val="42000"/>
              </a:srgbClr>
            </a:solidFill>
            <a:prstDash val="solid"/>
          </a:ln>
        </p:spPr>
      </p:sp>
      <p:pic>
        <p:nvPicPr>
          <p:cNvPr id="56" name="Image 0" descr="/home/user/traking/public/phantoms/phantom-cut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576072"/>
            <a:ext cx="3063240" cy="5431536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10744200" y="1188720"/>
            <a:ext cx="411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>
            <a:normAutofit/>
          </a:bodyPr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34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C7FF42">
              <a:alpha val="3500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C7FF42">
              <a:alpha val="12000"/>
            </a:srgbClr>
          </a:solidFill>
          <a:ln>
            <a:solidFill>
              <a:srgbClr val="C7FF42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الافتتاحية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 — 10:12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4114800" y="1143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LINE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828800" y="16459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4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اجتماع.</a:t>
            </a:r>
            <a:endParaRPr lang="en-US" sz="4800" dirty="0"/>
          </a:p>
        </p:txBody>
      </p:sp>
      <p:sp>
        <p:nvSpPr>
          <p:cNvPr id="43" name="Text 40"/>
          <p:cNvSpPr/>
          <p:nvPr/>
        </p:nvSpPr>
        <p:spPr>
          <a:xfrm>
            <a:off x="1828800" y="217627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48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خطوة بجد.</a:t>
            </a:r>
            <a:endParaRPr lang="en-US" sz="4800" dirty="0"/>
          </a:p>
        </p:txBody>
      </p:sp>
      <p:sp>
        <p:nvSpPr>
          <p:cNvPr id="44" name="Shape 41"/>
          <p:cNvSpPr/>
          <p:nvPr/>
        </p:nvSpPr>
        <p:spPr>
          <a:xfrm>
            <a:off x="1828800" y="3429000"/>
            <a:ext cx="8503920" cy="1143000"/>
          </a:xfrm>
          <a:prstGeom prst="rect">
            <a:avLst/>
          </a:prstGeom>
          <a:solidFill>
            <a:srgbClr val="C7FF42">
              <a:alpha val="6000"/>
            </a:srgbClr>
          </a:solidFill>
          <a:ln w="12700">
            <a:solidFill>
              <a:srgbClr val="C7FF42">
                <a:alpha val="20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287000" y="3429000"/>
            <a:ext cx="45720" cy="114300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921240" y="350215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2029968" y="3630168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صباح الخير جميعاً. شكراً لالتزامكم وحضوركم في الميعاد، وشكراً لانتظاركم.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2971800" y="49560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اعتذار  •  لا قصة حياة  •  ندخل في المعنى فوراً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5EFDF">
              <a:alpha val="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5EFDF">
              <a:alpha val="3500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5EFDF">
              <a:alpha val="12000"/>
            </a:srgbClr>
          </a:solidFill>
          <a:ln>
            <a:solidFill>
              <a:srgbClr val="F5EFD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الاجتماع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— 12:00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60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PLAN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990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دقيقة.</a:t>
            </a:r>
            <a:endParaRPr lang="en-US" sz="3500" dirty="0"/>
          </a:p>
        </p:txBody>
      </p:sp>
      <p:sp>
        <p:nvSpPr>
          <p:cNvPr id="43" name="Text 40"/>
          <p:cNvSpPr/>
          <p:nvPr/>
        </p:nvSpPr>
        <p:spPr>
          <a:xfrm>
            <a:off x="640080" y="192938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دقيقة لها وظيفة.</a:t>
            </a:r>
            <a:endParaRPr lang="en-US" sz="3500" dirty="0"/>
          </a:p>
        </p:txBody>
      </p:sp>
      <p:sp>
        <p:nvSpPr>
          <p:cNvPr id="44" name="Text 41"/>
          <p:cNvSpPr/>
          <p:nvPr/>
        </p:nvSpPr>
        <p:spPr>
          <a:xfrm>
            <a:off x="640080" y="2743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رسائل عميقة أفضل من 10 رسائل سطحية.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5486400" y="1024128"/>
            <a:ext cx="5989320" cy="0"/>
          </a:xfrm>
          <a:prstGeom prst="line">
            <a:avLst/>
          </a:prstGeom>
          <a:noFill/>
          <a:ln w="12700">
            <a:solidFill>
              <a:srgbClr val="55554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0" y="116128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925312" y="11430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784848" y="1115568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انتظار ووصول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10744200" y="11338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د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486400" y="1655064"/>
            <a:ext cx="5989320" cy="0"/>
          </a:xfrm>
          <a:prstGeom prst="line">
            <a:avLst/>
          </a:prstGeom>
          <a:noFill/>
          <a:ln w="8890">
            <a:solidFill>
              <a:srgbClr val="3B3B3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0" y="17922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925312" y="177393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784848" y="1746504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 + ليه بدري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10744200" y="17647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د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486400" y="2286000"/>
            <a:ext cx="5989320" cy="0"/>
          </a:xfrm>
          <a:prstGeom prst="line">
            <a:avLst/>
          </a:prstGeom>
          <a:noFill/>
          <a:ln w="8890">
            <a:solidFill>
              <a:srgbClr val="3B3B3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0" y="242316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925312" y="24048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784848" y="2377440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قبل الفكرة + التفويض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10744200" y="23957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د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5486400" y="2916936"/>
            <a:ext cx="5989320" cy="0"/>
          </a:xfrm>
          <a:prstGeom prst="line">
            <a:avLst/>
          </a:prstGeom>
          <a:noFill/>
          <a:ln w="8890">
            <a:solidFill>
              <a:srgbClr val="3B3B3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486400" y="30540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925312" y="30358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10:35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6784848" y="3008376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عروض اللجان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10744200" y="30266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د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5486400" y="3547872"/>
            <a:ext cx="5989320" cy="0"/>
          </a:xfrm>
          <a:prstGeom prst="line">
            <a:avLst/>
          </a:prstGeom>
          <a:noFill/>
          <a:ln w="8890">
            <a:solidFill>
              <a:srgbClr val="3B3B34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86400" y="36850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925312" y="36667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11:15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6784848" y="3639312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الصندوق الأسود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10744200" y="3657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د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5486400" y="4178808"/>
            <a:ext cx="5989320" cy="0"/>
          </a:xfrm>
          <a:prstGeom prst="line">
            <a:avLst/>
          </a:prstGeom>
          <a:noFill/>
          <a:ln w="8890">
            <a:solidFill>
              <a:srgbClr val="3B3B3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486400" y="43159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5925312" y="42976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11:25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6784848" y="4270248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+ وقت + تواصل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10744200" y="42885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د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486400" y="4809744"/>
            <a:ext cx="5989320" cy="0"/>
          </a:xfrm>
          <a:prstGeom prst="line">
            <a:avLst/>
          </a:prstGeom>
          <a:noFill/>
          <a:ln w="8890">
            <a:solidFill>
              <a:srgbClr val="3B3B34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486400" y="4946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5925312" y="492861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11:55</a:t>
            </a:r>
            <a:endParaRPr lang="en-US" sz="1100" dirty="0"/>
          </a:p>
        </p:txBody>
      </p:sp>
      <p:sp>
        <p:nvSpPr>
          <p:cNvPr id="78" name="Text 75"/>
          <p:cNvSpPr/>
          <p:nvPr/>
        </p:nvSpPr>
        <p:spPr>
          <a:xfrm>
            <a:off x="6784848" y="4901184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والتحوّل</a:t>
            </a:r>
            <a:endParaRPr lang="en-US" sz="1300" dirty="0"/>
          </a:p>
        </p:txBody>
      </p:sp>
      <p:sp>
        <p:nvSpPr>
          <p:cNvPr id="79" name="Text 76"/>
          <p:cNvSpPr/>
          <p:nvPr/>
        </p:nvSpPr>
        <p:spPr>
          <a:xfrm>
            <a:off x="10744200" y="49194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د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5486400" y="5440680"/>
            <a:ext cx="5989320" cy="0"/>
          </a:xfrm>
          <a:prstGeom prst="line">
            <a:avLst/>
          </a:prstGeom>
          <a:noFill/>
          <a:ln w="8890">
            <a:solidFill>
              <a:srgbClr val="3B3B3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B35">
              <a:alpha val="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B35">
              <a:alpha val="12000"/>
            </a:srgbClr>
          </a:solidFill>
          <a:ln>
            <a:solidFill>
              <a:srgbClr val="FF6B35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10:12 — 10:15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3268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/ 02 MIN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716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تيم بيحاول</a:t>
            </a:r>
            <a:endParaRPr lang="en-US" sz="3400" dirty="0"/>
          </a:p>
        </p:txBody>
      </p:sp>
      <p:sp>
        <p:nvSpPr>
          <p:cNvPr id="43" name="Text 40"/>
          <p:cNvSpPr/>
          <p:nvPr/>
        </p:nvSpPr>
        <p:spPr>
          <a:xfrm>
            <a:off x="640080" y="190195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يبان كويس.</a:t>
            </a:r>
            <a:endParaRPr lang="en-US" sz="3400" dirty="0"/>
          </a:p>
        </p:txBody>
      </p:sp>
      <p:sp>
        <p:nvSpPr>
          <p:cNvPr id="44" name="Text 41"/>
          <p:cNvSpPr/>
          <p:nvPr/>
        </p:nvSpPr>
        <p:spPr>
          <a:xfrm>
            <a:off x="640080" y="283464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إحنا تيم بيبني منتجات حقيقية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لناس حقيقية.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5623560" y="1005840"/>
            <a:ext cx="5897880" cy="409651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484864" y="1005840"/>
            <a:ext cx="36576" cy="4096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06440" y="1188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852160" y="148132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عرّف نفسك في جملتين</a:t>
            </a:r>
            <a:endParaRPr lang="en-US" sz="2100" dirty="0"/>
          </a:p>
        </p:txBody>
      </p:sp>
      <p:sp>
        <p:nvSpPr>
          <p:cNvPr id="49" name="Text 46"/>
          <p:cNvSpPr/>
          <p:nvPr/>
        </p:nvSpPr>
        <p:spPr>
          <a:xfrm>
            <a:off x="5852160" y="1947672"/>
            <a:ext cx="54406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الخبرة: أنا اشتغلت في [مجالك] وبنيت [نوع المنتج].</a:t>
            </a:r>
            <a:endParaRPr lang="en-US" sz="1600" dirty="0"/>
          </a:p>
          <a:p>
            <a:pPr rtl="1" algn="r" indent="0" marL="0">
              <a:buNone/>
            </a:pPr>
            <a:endParaRPr lang="en-US" sz="1600" dirty="0"/>
          </a:p>
          <a:p>
            <a:pPr rtl="1" algn="r" indent="0" marL="0">
              <a:buNone/>
            </a:pPr>
            <a:r>
              <a:rPr lang="en-US" sz="16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الدليل: أقوى نتيجة حققتها كانت [رقم موثوق].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916168" y="3822192"/>
            <a:ext cx="5285232" cy="941832"/>
          </a:xfrm>
          <a:prstGeom prst="rect">
            <a:avLst/>
          </a:prstGeom>
          <a:solidFill>
            <a:srgbClr val="FF6B35">
              <a:alpha val="6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155680" y="3822192"/>
            <a:ext cx="45720" cy="9418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789920" y="3895344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6117336" y="4023360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أنا مش هنا أقولكم عملت إيه؛ أنا هنا أوفّر البيئة اللي تخليكم تعملوا أحسن.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40080" y="5074920"/>
            <a:ext cx="1088136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14400" y="523036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شعار السنة:  بنبني بجد. وبنثبت بالنتيجة.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4CA6FF">
              <a:alpha val="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4CA6FF">
              <a:alpha val="3500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4CA6FF">
              <a:alpha val="12000"/>
            </a:srgbClr>
          </a:solidFill>
          <a:ln>
            <a:solidFill>
              <a:srgbClr val="4CA6F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بدأنا بدري؟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 — 10:25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326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71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إحنا بنشتري وقت،</a:t>
            </a:r>
            <a:endParaRPr lang="en-US" sz="3100" dirty="0"/>
          </a:p>
        </p:txBody>
      </p:sp>
      <p:sp>
        <p:nvSpPr>
          <p:cNvPr id="43" name="Text 40"/>
          <p:cNvSpPr/>
          <p:nvPr/>
        </p:nvSpPr>
        <p:spPr>
          <a:xfrm>
            <a:off x="640080" y="19019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1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بنسرقه من حد.</a:t>
            </a:r>
            <a:endParaRPr lang="en-US" sz="3100" dirty="0"/>
          </a:p>
        </p:txBody>
      </p:sp>
      <p:sp>
        <p:nvSpPr>
          <p:cNvPr id="44" name="Shape 41"/>
          <p:cNvSpPr/>
          <p:nvPr/>
        </p:nvSpPr>
        <p:spPr>
          <a:xfrm>
            <a:off x="4892040" y="1024128"/>
            <a:ext cx="2999232" cy="4251960"/>
          </a:xfrm>
          <a:prstGeom prst="rect">
            <a:avLst/>
          </a:prstGeom>
          <a:solidFill>
            <a:srgbClr val="11110F"/>
          </a:solidFill>
          <a:ln w="12700">
            <a:solidFill>
              <a:srgbClr val="62352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854696" y="1024128"/>
            <a:ext cx="36576" cy="4251960"/>
          </a:xfrm>
          <a:prstGeom prst="rect">
            <a:avLst/>
          </a:prstGeom>
          <a:solidFill>
            <a:srgbClr val="FF765D"/>
          </a:solidFill>
          <a:ln w="12700">
            <a:solidFill>
              <a:srgbClr val="FF765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74920" y="1207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120640" y="149961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تبدأ مع أول محاضرة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5120640" y="1965960"/>
            <a:ext cx="254203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ضغط أكاديمي</a:t>
            </a:r>
            <a:endParaRPr lang="en-US" sz="1300" dirty="0"/>
          </a:p>
          <a:p>
            <a:pPr rtl="1" algn="r" indent="0" marL="0">
              <a:buNone/>
            </a:pP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بنصف طاقة</a:t>
            </a:r>
            <a:endParaRPr lang="en-US" sz="1300" dirty="0"/>
          </a:p>
          <a:p>
            <a:pPr rtl="1" algn="r" indent="0" marL="0">
              <a:buNone/>
            </a:pP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طول الوقت بتلحق</a:t>
            </a:r>
            <a:endParaRPr lang="en-US" sz="1300" dirty="0"/>
          </a:p>
          <a:p>
            <a:pPr rtl="1" algn="r" indent="0" marL="0">
              <a:buNone/>
            </a:pP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الوقت هو اللي بيتحكم فيك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8183880" y="1024128"/>
            <a:ext cx="3364992" cy="4251960"/>
          </a:xfrm>
          <a:prstGeom prst="rect">
            <a:avLst/>
          </a:prstGeom>
          <a:solidFill>
            <a:srgbClr val="11110F"/>
          </a:solidFill>
          <a:ln w="12700">
            <a:solidFill>
              <a:srgbClr val="35566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1512296" y="1024128"/>
            <a:ext cx="36576" cy="4251960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66760" y="1207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412480" y="1499616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تبدأ قبل الزحمة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8412480" y="1965960"/>
            <a:ext cx="29077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 متين</a:t>
            </a:r>
            <a:endParaRPr lang="en-US" sz="1300" dirty="0"/>
          </a:p>
          <a:p>
            <a:pPr rtl="1" algn="r" indent="0" marL="0">
              <a:buNone/>
            </a:pP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بدل حفظ</a:t>
            </a:r>
            <a:endParaRPr lang="en-US" sz="1300" dirty="0"/>
          </a:p>
          <a:p>
            <a:pPr rtl="1" algn="r" indent="0" marL="0">
              <a:buNone/>
            </a:pP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إيقاع تحت سيطرتك</a:t>
            </a:r>
            <a:endParaRPr lang="en-US" sz="1300" dirty="0"/>
          </a:p>
          <a:p>
            <a:pPr rtl="1" algn="r" indent="0" marL="0">
              <a:buNone/>
            </a:pP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 اللي بتتحكم في الوتيرة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40080" y="400507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الأساسيات الحالية مش حمل زيادة؛ هي نفس مواد السنة لكن بعمق وتطبيق قبل الضغط.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C7FF42">
              <a:alpha val="3500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C7FF42">
              <a:alpha val="12000"/>
            </a:srgbClr>
          </a:solidFill>
          <a:ln>
            <a:solidFill>
              <a:srgbClr val="C7FF42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قبل الفكرة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 — 10:29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680960" y="777240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0" b="1" dirty="0">
                <a:solidFill>
                  <a:srgbClr val="272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0" dirty="0"/>
          </a:p>
        </p:txBody>
      </p:sp>
      <p:sp>
        <p:nvSpPr>
          <p:cNvPr id="42" name="Text 39"/>
          <p:cNvSpPr/>
          <p:nvPr/>
        </p:nvSpPr>
        <p:spPr>
          <a:xfrm>
            <a:off x="640080" y="9326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FIRST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40080" y="13716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السواقة قبل</a:t>
            </a:r>
            <a:endParaRPr lang="en-US" sz="3900" dirty="0"/>
          </a:p>
        </p:txBody>
      </p:sp>
      <p:sp>
        <p:nvSpPr>
          <p:cNvPr id="44" name="Text 41"/>
          <p:cNvSpPr/>
          <p:nvPr/>
        </p:nvSpPr>
        <p:spPr>
          <a:xfrm>
            <a:off x="640080" y="190195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 العربية.</a:t>
            </a:r>
            <a:endParaRPr lang="en-US" sz="3900" dirty="0"/>
          </a:p>
        </p:txBody>
      </p:sp>
      <p:sp>
        <p:nvSpPr>
          <p:cNvPr id="45" name="Text 42"/>
          <p:cNvSpPr/>
          <p:nvPr/>
        </p:nvSpPr>
        <p:spPr>
          <a:xfrm>
            <a:off x="640080" y="2880360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مانيوال أو أوتوماتيك؟ الاختيار ييجي بعد ما تتعلم أساسيات السواقة.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5486400" y="1188720"/>
            <a:ext cx="5623560" cy="1234440"/>
          </a:xfrm>
          <a:prstGeom prst="rect">
            <a:avLst/>
          </a:prstGeom>
          <a:solidFill>
            <a:srgbClr val="11110F"/>
          </a:solidFill>
          <a:ln w="12700">
            <a:solidFill>
              <a:srgbClr val="61352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073384" y="1188720"/>
            <a:ext cx="36576" cy="1234440"/>
          </a:xfrm>
          <a:prstGeom prst="rect">
            <a:avLst/>
          </a:prstGeom>
          <a:solidFill>
            <a:srgbClr val="FF765D"/>
          </a:solidFill>
          <a:ln w="12700">
            <a:solidFill>
              <a:srgbClr val="FF765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69280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715000" y="166420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محددة الآن  ←  سقف مهاراتنا الحالية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5715000" y="2130552"/>
            <a:ext cx="5166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هنحبس نفسنا في اللي نعرفه دلوقتي.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486400" y="2697480"/>
            <a:ext cx="5623560" cy="1234440"/>
          </a:xfrm>
          <a:prstGeom prst="rect">
            <a:avLst/>
          </a:prstGeom>
          <a:solidFill>
            <a:srgbClr val="11110F"/>
          </a:solidFill>
          <a:ln w="12700">
            <a:solidFill>
              <a:srgbClr val="4E642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073384" y="2697480"/>
            <a:ext cx="36576" cy="123444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69280" y="28803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715000" y="31729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قوية أولاً  ←  نقدر ننفذ أي فكرة</a:t>
            </a:r>
            <a:endParaRPr lang="en-US" sz="1700" dirty="0"/>
          </a:p>
        </p:txBody>
      </p:sp>
      <p:sp>
        <p:nvSpPr>
          <p:cNvPr id="55" name="Text 52"/>
          <p:cNvSpPr/>
          <p:nvPr/>
        </p:nvSpPr>
        <p:spPr>
          <a:xfrm>
            <a:off x="5715000" y="3639312"/>
            <a:ext cx="5166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السوفت + الهارد + AI يمتلكوا أدواتهم بالكامل.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40080" y="4599432"/>
            <a:ext cx="10469880" cy="932688"/>
          </a:xfrm>
          <a:prstGeom prst="rect">
            <a:avLst/>
          </a:prstGeom>
          <a:solidFill>
            <a:srgbClr val="C7FF42">
              <a:alpha val="6000"/>
            </a:srgbClr>
          </a:solidFill>
          <a:ln w="12700">
            <a:solidFill>
              <a:srgbClr val="C7FF42">
                <a:alpha val="20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1064240" y="4599432"/>
            <a:ext cx="45720" cy="932688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698480" y="4672584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400" dirty="0"/>
          </a:p>
        </p:txBody>
      </p:sp>
      <p:sp>
        <p:nvSpPr>
          <p:cNvPr id="59" name="Text 56"/>
          <p:cNvSpPr/>
          <p:nvPr/>
        </p:nvSpPr>
        <p:spPr>
          <a:xfrm>
            <a:off x="841248" y="4727448"/>
            <a:ext cx="9738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القانون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841248" y="4946904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 الضعيف يضيّع الفكرة الكويسة. الفريق القوي يحوّل أي فكرة لمنتج ينافس.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7B3">
              <a:alpha val="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7B3">
              <a:alpha val="3500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7B3">
              <a:alpha val="12000"/>
            </a:srgbClr>
          </a:solidFill>
          <a:ln>
            <a:solidFill>
              <a:srgbClr val="FF67B3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Thinking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10:29 — 10:33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326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THINKING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716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مش</a:t>
            </a:r>
            <a:endParaRPr lang="en-US" sz="3800" dirty="0"/>
          </a:p>
        </p:txBody>
      </p:sp>
      <p:sp>
        <p:nvSpPr>
          <p:cNvPr id="43" name="Text 40"/>
          <p:cNvSpPr/>
          <p:nvPr/>
        </p:nvSpPr>
        <p:spPr>
          <a:xfrm>
            <a:off x="640080" y="190195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 القيمة.</a:t>
            </a:r>
            <a:endParaRPr lang="en-US" sz="3800" dirty="0"/>
          </a:p>
        </p:txBody>
      </p:sp>
      <p:sp>
        <p:nvSpPr>
          <p:cNvPr id="44" name="Text 41"/>
          <p:cNvSpPr/>
          <p:nvPr/>
        </p:nvSpPr>
        <p:spPr>
          <a:xfrm>
            <a:off x="640080" y="27889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هي المهارة اللي هتنفّذ بيها، والدليل اللي هتتعلم منه.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4892040" y="1234440"/>
            <a:ext cx="2029968" cy="38587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885432" y="1234440"/>
            <a:ext cx="36576" cy="3858768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74920" y="1417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120640" y="17099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5120640" y="2176272"/>
            <a:ext cx="1572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بنحل مشكلة حقيقية لمين بالظبط؟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159752" y="1563624"/>
            <a:ext cx="2029968" cy="38587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153144" y="1563624"/>
            <a:ext cx="36576" cy="3858768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342632" y="17465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388352" y="203911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الاستخدام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7388352" y="2505456"/>
            <a:ext cx="1572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حد مستعد يستخدم أو يدفع للحل فعلاً؟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9427464" y="1234440"/>
            <a:ext cx="2029968" cy="38587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420856" y="1234440"/>
            <a:ext cx="36576" cy="3858768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610344" y="1417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9656064" y="17099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9656064" y="2176272"/>
            <a:ext cx="1572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أصغر MVP نجربه قبل ما نبني كل حاجة؟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7836408" y="4956048"/>
            <a:ext cx="731520" cy="731520"/>
          </a:xfrm>
          <a:prstGeom prst="ellipse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946136" y="520293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B35">
              <a:alpha val="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B35">
              <a:alpha val="12000"/>
            </a:srgbClr>
          </a:solidFill>
          <a:ln>
            <a:solidFill>
              <a:srgbClr val="FF6B35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التفويض والتنظيم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10:33 — 10:35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77240" y="1097280"/>
            <a:ext cx="3383280" cy="4407408"/>
          </a:xfrm>
          <a:prstGeom prst="rect">
            <a:avLst/>
          </a:prstGeom>
          <a:solidFill>
            <a:srgbClr val="0A0B08"/>
          </a:solidFill>
          <a:ln w="12700">
            <a:solidFill>
              <a:srgbClr val="5D432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618488" y="1554480"/>
            <a:ext cx="1691640" cy="1783080"/>
          </a:xfrm>
          <a:prstGeom prst="arc">
            <a:avLst/>
          </a:prstGeom>
          <a:solidFill>
            <a:srgbClr val="11110F">
              <a:alpha val="0"/>
            </a:srgbClr>
          </a:solidFill>
          <a:ln w="50800">
            <a:solidFill>
              <a:srgbClr val="FF6B35"/>
            </a:solidFill>
            <a:prstDash val="solid"/>
            <a:headEnd type="none"/>
            <a:tailEnd type="none"/>
          </a:ln>
        </p:spPr>
      </p:sp>
      <p:sp>
        <p:nvSpPr>
          <p:cNvPr id="43" name="Shape 40"/>
          <p:cNvSpPr/>
          <p:nvPr/>
        </p:nvSpPr>
        <p:spPr>
          <a:xfrm>
            <a:off x="1417320" y="2788920"/>
            <a:ext cx="2103120" cy="1554480"/>
          </a:xfrm>
          <a:prstGeom prst="rect">
            <a:avLst/>
          </a:prstGeom>
          <a:solidFill>
            <a:srgbClr val="FF6B35">
              <a:alpha val="12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86000" y="3227832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417320" y="4709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892040" y="96012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PERMISSION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892040" y="139903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امتياز…</a:t>
            </a:r>
            <a:endParaRPr lang="en-US" sz="3800" dirty="0"/>
          </a:p>
        </p:txBody>
      </p:sp>
      <p:sp>
        <p:nvSpPr>
          <p:cNvPr id="48" name="Text 45"/>
          <p:cNvSpPr/>
          <p:nvPr/>
        </p:nvSpPr>
        <p:spPr>
          <a:xfrm>
            <a:off x="4892040" y="192938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ومسؤولية.</a:t>
            </a:r>
            <a:endParaRPr lang="en-US" sz="3800" dirty="0"/>
          </a:p>
        </p:txBody>
      </p:sp>
      <p:sp>
        <p:nvSpPr>
          <p:cNvPr id="49" name="Shape 46"/>
          <p:cNvSpPr/>
          <p:nvPr/>
        </p:nvSpPr>
        <p:spPr>
          <a:xfrm>
            <a:off x="4892040" y="2862072"/>
            <a:ext cx="6080760" cy="1481328"/>
          </a:xfrm>
          <a:prstGeom prst="rect">
            <a:avLst/>
          </a:prstGeom>
          <a:solidFill>
            <a:srgbClr val="FF6B35">
              <a:alpha val="6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927080" y="2862072"/>
            <a:ext cx="45720" cy="14813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61320" y="2935224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400" dirty="0"/>
          </a:p>
        </p:txBody>
      </p:sp>
      <p:sp>
        <p:nvSpPr>
          <p:cNvPr id="52" name="Text 49"/>
          <p:cNvSpPr/>
          <p:nvPr/>
        </p:nvSpPr>
        <p:spPr>
          <a:xfrm>
            <a:off x="5093208" y="3063240"/>
            <a:ext cx="534924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إحنا بدأنا بتفويض رسمي من الجهة المسؤولة، وده امتياز مانحطّش تفاصيله برّه التيم لأسباب تنظيمية — مش لأنه سر مخيف.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4892040" y="4645152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جملة واحدة واضحة تكفي. الغموض الزيادة يولّد قلق، مش هيبة.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5EFDF">
              <a:alpha val="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5EFDF">
              <a:alpha val="3500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5EFDF">
              <a:alpha val="12000"/>
            </a:srgbClr>
          </a:solidFill>
          <a:ln>
            <a:solidFill>
              <a:srgbClr val="F5EFD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عروض اللجان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10:35 — 11:15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32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 + MONITORS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مسارات.</a:t>
            </a:r>
            <a:endParaRPr lang="en-US" sz="3800" dirty="0"/>
          </a:p>
        </p:txBody>
      </p:sp>
      <p:sp>
        <p:nvSpPr>
          <p:cNvPr id="43" name="Text 40"/>
          <p:cNvSpPr/>
          <p:nvPr/>
        </p:nvSpPr>
        <p:spPr>
          <a:xfrm>
            <a:off x="640080" y="19019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واحد.</a:t>
            </a:r>
            <a:endParaRPr lang="en-US" sz="3800" dirty="0"/>
          </a:p>
        </p:txBody>
      </p:sp>
      <p:sp>
        <p:nvSpPr>
          <p:cNvPr id="44" name="Text 41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دقيقة إجمالي — الانتقال محسوب.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617720" y="1188720"/>
            <a:ext cx="2084832" cy="409651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665976" y="1188720"/>
            <a:ext cx="36576" cy="4096512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00600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/ 01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846320" y="16642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4846320" y="2130552"/>
            <a:ext cx="16276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السوفت يبني التجربة والنظام.</a:t>
            </a:r>
            <a:endParaRPr lang="en-US" sz="1100" dirty="0"/>
          </a:p>
          <a:p>
            <a:pPr rtl="1" algn="r" indent="0" marL="0">
              <a:buNone/>
            </a:pPr>
            <a:endParaRPr lang="en-US" sz="1100" dirty="0"/>
          </a:p>
          <a:p>
            <a:pPr rtl="1" algn="r" indent="0" marL="0">
              <a:buNone/>
            </a:pP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دقيقة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931152" y="1188720"/>
            <a:ext cx="2084832" cy="409651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979408" y="1188720"/>
            <a:ext cx="36576" cy="4096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14032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/ 02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159752" y="16642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54" name="Text 51"/>
          <p:cNvSpPr/>
          <p:nvPr/>
        </p:nvSpPr>
        <p:spPr>
          <a:xfrm>
            <a:off x="7159752" y="2130552"/>
            <a:ext cx="16276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الهارد يحوّل الفكرة لشيء ملموس.</a:t>
            </a:r>
            <a:endParaRPr lang="en-US" sz="1100" dirty="0"/>
          </a:p>
          <a:p>
            <a:pPr rtl="1" algn="r" indent="0" marL="0">
              <a:buNone/>
            </a:pPr>
            <a:endParaRPr lang="en-US" sz="1100" dirty="0"/>
          </a:p>
          <a:p>
            <a:pPr rtl="1" algn="r" indent="0" marL="0">
              <a:buNone/>
            </a:pP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دقيقة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9244584" y="1188720"/>
            <a:ext cx="2084832" cy="409651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292840" y="1188720"/>
            <a:ext cx="36576" cy="4096512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427464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/ 03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9473184" y="16642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000" dirty="0"/>
          </a:p>
        </p:txBody>
      </p:sp>
      <p:sp>
        <p:nvSpPr>
          <p:cNvPr id="59" name="Text 56"/>
          <p:cNvSpPr/>
          <p:nvPr/>
        </p:nvSpPr>
        <p:spPr>
          <a:xfrm>
            <a:off x="9473184" y="2130552"/>
            <a:ext cx="16276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الـAI يحوّل البيانات لقرار.</a:t>
            </a:r>
            <a:endParaRPr lang="en-US" sz="1100" dirty="0"/>
          </a:p>
          <a:p>
            <a:pPr rtl="1" algn="r" indent="0" marL="0">
              <a:buNone/>
            </a:pPr>
            <a:endParaRPr lang="en-US" sz="1100" dirty="0"/>
          </a:p>
          <a:p>
            <a:pPr rtl="1" algn="r" indent="0" marL="0">
              <a:buNone/>
            </a:pP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دقيقة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1874520" y="559612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المتحدث يعرض  •  القائد واقف بجانبه  •  الانتقال بدون فراغ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4CA6FF">
              <a:alpha val="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4CA6FF">
              <a:alpha val="3500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4CA6FF">
              <a:alpha val="12000"/>
            </a:srgbClr>
          </a:solidFill>
          <a:ln>
            <a:solidFill>
              <a:srgbClr val="4CA6F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عروض اللجان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دقيقة لكل لجنة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32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 / HARD STOP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عرض يجاوب</a:t>
            </a:r>
            <a:endParaRPr lang="en-US" sz="3400" dirty="0"/>
          </a:p>
        </p:txBody>
      </p:sp>
      <p:sp>
        <p:nvSpPr>
          <p:cNvPr id="43" name="Text 40"/>
          <p:cNvSpPr/>
          <p:nvPr/>
        </p:nvSpPr>
        <p:spPr>
          <a:xfrm>
            <a:off x="640080" y="19019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5 أسئلة.</a:t>
            </a:r>
            <a:endParaRPr lang="en-US" sz="3400" dirty="0"/>
          </a:p>
        </p:txBody>
      </p:sp>
      <p:sp>
        <p:nvSpPr>
          <p:cNvPr id="44" name="Shape 41"/>
          <p:cNvSpPr/>
          <p:nvPr/>
        </p:nvSpPr>
        <p:spPr>
          <a:xfrm>
            <a:off x="4709160" y="1097280"/>
            <a:ext cx="2029968" cy="193852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702552" y="1097280"/>
            <a:ext cx="36576" cy="193852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92040" y="1280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937760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الرؤية الفنية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937760" y="2039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هنوصل لإيه تقنياً؟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967728" y="1097280"/>
            <a:ext cx="2029968" cy="193852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61120" y="1097280"/>
            <a:ext cx="36576" cy="193852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150608" y="1280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196328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الوضع الحالي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196328" y="2039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جاهزيتنا دلوقتي كام؟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226296" y="1097280"/>
            <a:ext cx="2029968" cy="193852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219688" y="1097280"/>
            <a:ext cx="36576" cy="193852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409176" y="1280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454896" y="15727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Roadmap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9454896" y="2039112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هنبني بإيه وبأي ترتيب؟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833872" y="3310128"/>
            <a:ext cx="2029968" cy="193852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827264" y="3310128"/>
            <a:ext cx="36576" cy="193852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16752" y="3493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062472" y="378561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الأدوار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062472" y="4251960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مين مسؤول عن إيه؟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8092440" y="3310128"/>
            <a:ext cx="2029968" cy="193852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085832" y="3310128"/>
            <a:ext cx="36576" cy="193852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275320" y="3493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8321040" y="378561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الاستمرار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8321040" y="4251960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معيار الالتزام الواضح؟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B35">
              <a:alpha val="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B35">
              <a:alpha val="12000"/>
            </a:srgbClr>
          </a:solidFill>
          <a:ln>
            <a:solidFill>
              <a:srgbClr val="FF6B35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العمل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ضمن عروض اللجان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804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ROUTE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243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المعلومة تمشي</a:t>
            </a:r>
            <a:endParaRPr lang="en-US" sz="3200" dirty="0"/>
          </a:p>
        </p:txBody>
      </p:sp>
      <p:sp>
        <p:nvSpPr>
          <p:cNvPr id="43" name="Text 40"/>
          <p:cNvSpPr/>
          <p:nvPr/>
        </p:nvSpPr>
        <p:spPr>
          <a:xfrm>
            <a:off x="640080" y="17739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أقصر طريق.</a:t>
            </a:r>
            <a:endParaRPr lang="en-US" sz="3200" dirty="0"/>
          </a:p>
        </p:txBody>
      </p:sp>
      <p:sp>
        <p:nvSpPr>
          <p:cNvPr id="44" name="Shape 41"/>
          <p:cNvSpPr/>
          <p:nvPr/>
        </p:nvSpPr>
        <p:spPr>
          <a:xfrm>
            <a:off x="640080" y="2944368"/>
            <a:ext cx="2395728" cy="15727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999232" y="2944368"/>
            <a:ext cx="36576" cy="1572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2960" y="3127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68680" y="34198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700" dirty="0"/>
          </a:p>
        </p:txBody>
      </p:sp>
      <p:sp>
        <p:nvSpPr>
          <p:cNvPr id="48" name="Text 45"/>
          <p:cNvSpPr/>
          <p:nvPr/>
        </p:nvSpPr>
        <p:spPr>
          <a:xfrm>
            <a:off x="868680" y="388620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يومية + أعذار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099816" y="351129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50" name="Shape 47"/>
          <p:cNvSpPr/>
          <p:nvPr/>
        </p:nvSpPr>
        <p:spPr>
          <a:xfrm>
            <a:off x="3429000" y="2944368"/>
            <a:ext cx="2395728" cy="15727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788152" y="2944368"/>
            <a:ext cx="36576" cy="1572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611880" y="3127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3657600" y="34198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700" dirty="0"/>
          </a:p>
        </p:txBody>
      </p:sp>
      <p:sp>
        <p:nvSpPr>
          <p:cNvPr id="54" name="Text 51"/>
          <p:cNvSpPr/>
          <p:nvPr/>
        </p:nvSpPr>
        <p:spPr>
          <a:xfrm>
            <a:off x="3657600" y="388620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مشكلة فنية + قرار مسار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888736" y="351129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6217920" y="2944368"/>
            <a:ext cx="2395728" cy="15727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577072" y="2944368"/>
            <a:ext cx="36576" cy="1572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00800" y="3127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446520" y="34198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سهيلة</a:t>
            </a:r>
            <a:endParaRPr lang="en-US" sz="1700" dirty="0"/>
          </a:p>
        </p:txBody>
      </p:sp>
      <p:sp>
        <p:nvSpPr>
          <p:cNvPr id="60" name="Text 57"/>
          <p:cNvSpPr/>
          <p:nvPr/>
        </p:nvSpPr>
        <p:spPr>
          <a:xfrm>
            <a:off x="6446520" y="388620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تنسيق + تصعيد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8677656" y="351129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9006840" y="2944368"/>
            <a:ext cx="2395728" cy="15727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1365992" y="2944368"/>
            <a:ext cx="36576" cy="15727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189720" y="31272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9235440" y="3419856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سيف</a:t>
            </a:r>
            <a:endParaRPr lang="en-US" sz="1700" dirty="0"/>
          </a:p>
        </p:txBody>
      </p:sp>
      <p:sp>
        <p:nvSpPr>
          <p:cNvPr id="66" name="Text 63"/>
          <p:cNvSpPr/>
          <p:nvPr/>
        </p:nvSpPr>
        <p:spPr>
          <a:xfrm>
            <a:off x="9235440" y="388620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قيادي عند الحاجة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40080" y="4892040"/>
            <a:ext cx="10899648" cy="758952"/>
          </a:xfrm>
          <a:prstGeom prst="rect">
            <a:avLst/>
          </a:prstGeom>
          <a:solidFill>
            <a:srgbClr val="FF6B35">
              <a:alpha val="7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006840" y="507492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الـ Strikes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1051560" y="505663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الالتزام = حضور + تواصل مبكر + تسليم. تفاصيل الحد وإعادة الضبط يعلنها كل Head بوضوح.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7B3">
              <a:alpha val="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7B3">
              <a:alpha val="3500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7B3">
              <a:alpha val="12000"/>
            </a:srgbClr>
          </a:solidFill>
          <a:ln>
            <a:solidFill>
              <a:srgbClr val="FF67B3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الصندوق الأسود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11:15 — 11:25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77240" y="1188720"/>
            <a:ext cx="3474720" cy="4160520"/>
          </a:xfrm>
          <a:prstGeom prst="rect">
            <a:avLst/>
          </a:prstGeom>
          <a:solidFill>
            <a:srgbClr val="050504"/>
          </a:solidFill>
          <a:ln w="16510">
            <a:solidFill>
              <a:srgbClr val="FF67B3">
                <a:alpha val="2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60120" y="1371600"/>
            <a:ext cx="3474720" cy="4160520"/>
          </a:xfrm>
          <a:prstGeom prst="rect">
            <a:avLst/>
          </a:prstGeom>
          <a:solidFill>
            <a:srgbClr val="FF67B3">
              <a:alpha val="12000"/>
            </a:srgbClr>
          </a:solidFill>
          <a:ln w="12700">
            <a:solidFill>
              <a:srgbClr val="FF67B3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298448" y="155448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0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13000" dirty="0"/>
          </a:p>
        </p:txBody>
      </p:sp>
      <p:sp>
        <p:nvSpPr>
          <p:cNvPr id="44" name="Text 41"/>
          <p:cNvSpPr/>
          <p:nvPr/>
        </p:nvSpPr>
        <p:spPr>
          <a:xfrm>
            <a:off x="1572768" y="47091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892040" y="9144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QUESTIONS / 10 MIN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892040" y="13533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سألتم.</a:t>
            </a:r>
            <a:endParaRPr lang="en-US" sz="3400" dirty="0"/>
          </a:p>
        </p:txBody>
      </p:sp>
      <p:sp>
        <p:nvSpPr>
          <p:cNvPr id="47" name="Text 44"/>
          <p:cNvSpPr/>
          <p:nvPr/>
        </p:nvSpPr>
        <p:spPr>
          <a:xfrm>
            <a:off x="4892040" y="188366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وإحنا سمعنا.</a:t>
            </a:r>
            <a:endParaRPr lang="en-US" sz="3400" dirty="0"/>
          </a:p>
        </p:txBody>
      </p:sp>
      <p:sp>
        <p:nvSpPr>
          <p:cNvPr id="48" name="Shape 45"/>
          <p:cNvSpPr/>
          <p:nvPr/>
        </p:nvSpPr>
        <p:spPr>
          <a:xfrm>
            <a:off x="4892040" y="2926080"/>
            <a:ext cx="2889504" cy="80467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44968" y="2926080"/>
            <a:ext cx="36576" cy="804672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74920" y="3108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120640" y="3401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هوازن إزاي بين التيم والدراسة؟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120640" y="3867912"/>
            <a:ext cx="2432304" cy="-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8046720" y="2926080"/>
            <a:ext cx="2889504" cy="80467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899648" y="2926080"/>
            <a:ext cx="36576" cy="804672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229600" y="3108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8275320" y="3401568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لسه مفيش فكرة مشروع محددة؟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275320" y="3867912"/>
            <a:ext cx="2432304" cy="-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892040" y="3913632"/>
            <a:ext cx="2889504" cy="80467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744968" y="3913632"/>
            <a:ext cx="36576" cy="804672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074920" y="4096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5120640" y="43891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المتوقع مني كل أسبوع؟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5120640" y="4855464"/>
            <a:ext cx="2432304" cy="-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8046720" y="3913632"/>
            <a:ext cx="2889504" cy="80467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899648" y="3913632"/>
            <a:ext cx="36576" cy="804672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229600" y="4096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8275320" y="438912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اتعطلت أو اتأخرت، أتصرف إزاي؟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8275320" y="4855464"/>
            <a:ext cx="2432304" cy="-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4892040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إجابات مباشرة  •  بدون أسماء  •  3–4 أسئلة فقط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C7FF42">
              <a:alpha val="3500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C7FF42">
              <a:alpha val="12000"/>
            </a:srgbClr>
          </a:solidFill>
          <a:ln>
            <a:solidFill>
              <a:srgbClr val="C7FF42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11:25 — 11:33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804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/ 01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2435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المشاعر محترمة.</a:t>
            </a:r>
            <a:endParaRPr lang="en-US" sz="3200" dirty="0"/>
          </a:p>
        </p:txBody>
      </p:sp>
      <p:sp>
        <p:nvSpPr>
          <p:cNvPr id="43" name="Text 40"/>
          <p:cNvSpPr/>
          <p:nvPr/>
        </p:nvSpPr>
        <p:spPr>
          <a:xfrm>
            <a:off x="640080" y="17739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الكلمة مُلزمة.</a:t>
            </a:r>
            <a:endParaRPr lang="en-US" sz="3200" dirty="0"/>
          </a:p>
        </p:txBody>
      </p:sp>
      <p:sp>
        <p:nvSpPr>
          <p:cNvPr id="44" name="Shape 41"/>
          <p:cNvSpPr/>
          <p:nvPr/>
        </p:nvSpPr>
        <p:spPr>
          <a:xfrm>
            <a:off x="4892040" y="1024128"/>
            <a:ext cx="2743200" cy="310896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598664" y="1024128"/>
            <a:ext cx="36576" cy="310896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74920" y="1207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إنساني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120640" y="1499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ضغطك</a:t>
            </a:r>
            <a:endParaRPr lang="en-US" sz="2400" dirty="0"/>
          </a:p>
          <a:p>
            <a:pPr rtl="1" algn="r" indent="0" marL="0">
              <a:buNone/>
            </a:pPr>
            <a:r>
              <a:rPr lang="en-US" sz="2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مزاجك</a:t>
            </a:r>
            <a:endParaRPr lang="en-US" sz="2400" dirty="0"/>
          </a:p>
          <a:p>
            <a:pPr rtl="1" algn="r" indent="0" marL="0">
              <a:buNone/>
            </a:pPr>
            <a:r>
              <a:rPr lang="en-US" sz="2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ظروفك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5120640" y="19659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مفهومة ومحترمة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7266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4200" dirty="0"/>
          </a:p>
        </p:txBody>
      </p:sp>
      <p:sp>
        <p:nvSpPr>
          <p:cNvPr id="50" name="Shape 47"/>
          <p:cNvSpPr/>
          <p:nvPr/>
        </p:nvSpPr>
        <p:spPr>
          <a:xfrm>
            <a:off x="8458200" y="1024128"/>
            <a:ext cx="2743200" cy="310896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164824" y="1024128"/>
            <a:ext cx="36576" cy="310896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641080" y="1207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احترافي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686800" y="1499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</a:t>
            </a:r>
            <a:endParaRPr lang="en-US" sz="2400" dirty="0"/>
          </a:p>
          <a:p>
            <a:pPr rtl="1" algn="r" indent="0" marL="0">
              <a:buNone/>
            </a:pPr>
            <a:r>
              <a:rPr lang="en-US" sz="2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التزام</a:t>
            </a:r>
            <a:endParaRPr lang="en-US" sz="2400" dirty="0"/>
          </a:p>
          <a:p>
            <a:pPr rtl="1" algn="r" indent="0" marL="0">
              <a:buNone/>
            </a:pPr>
            <a:r>
              <a:rPr lang="en-US" sz="2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</a:t>
            </a:r>
            <a:endParaRPr lang="en-US" sz="2400" dirty="0"/>
          </a:p>
        </p:txBody>
      </p:sp>
      <p:sp>
        <p:nvSpPr>
          <p:cNvPr id="54" name="Text 51"/>
          <p:cNvSpPr/>
          <p:nvPr/>
        </p:nvSpPr>
        <p:spPr>
          <a:xfrm>
            <a:off x="8686800" y="19659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مسؤوليتك أمام التيم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0080" y="4498848"/>
            <a:ext cx="10561320" cy="932688"/>
          </a:xfrm>
          <a:prstGeom prst="rect">
            <a:avLst/>
          </a:prstGeom>
          <a:solidFill>
            <a:srgbClr val="C7FF42">
              <a:alpha val="6000"/>
            </a:srgbClr>
          </a:solidFill>
          <a:ln w="12700">
            <a:solidFill>
              <a:srgbClr val="C7FF42">
                <a:alpha val="20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155680" y="4498848"/>
            <a:ext cx="45720" cy="932688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789920" y="457200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841248" y="4700016"/>
            <a:ext cx="9829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المحترف مش اللي معندوش ضغط؛ المحترف هو اللي يتواصل بدري، يعيد ترتيب خطته، ويسلّم حتى تحت الضغط.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2011680" y="56327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متقولش هتعمل إيه. اعمله — وخلي النتيجة تتكلم.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B35">
              <a:alpha val="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B35">
              <a:alpha val="12000"/>
            </a:srgbClr>
          </a:solidFill>
          <a:ln>
            <a:solidFill>
              <a:srgbClr val="FF6B35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الوقت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11:33 — 11:43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31520" y="117043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4500" dirty="0"/>
          </a:p>
        </p:txBody>
      </p:sp>
      <p:sp>
        <p:nvSpPr>
          <p:cNvPr id="42" name="Shape 39"/>
          <p:cNvSpPr/>
          <p:nvPr/>
        </p:nvSpPr>
        <p:spPr>
          <a:xfrm>
            <a:off x="1499616" y="1993392"/>
            <a:ext cx="475488" cy="2331720"/>
          </a:xfrm>
          <a:prstGeom prst="rect">
            <a:avLst/>
          </a:prstGeom>
          <a:solidFill>
            <a:srgbClr val="2A2A24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499616" y="3858768"/>
            <a:ext cx="475488" cy="46634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5800" y="45537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المجهود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816352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3700" dirty="0"/>
          </a:p>
        </p:txBody>
      </p:sp>
      <p:sp>
        <p:nvSpPr>
          <p:cNvPr id="46" name="Text 43"/>
          <p:cNvSpPr/>
          <p:nvPr/>
        </p:nvSpPr>
        <p:spPr>
          <a:xfrm>
            <a:off x="3703320" y="117043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500" dirty="0"/>
          </a:p>
        </p:txBody>
      </p:sp>
      <p:sp>
        <p:nvSpPr>
          <p:cNvPr id="47" name="Shape 44"/>
          <p:cNvSpPr/>
          <p:nvPr/>
        </p:nvSpPr>
        <p:spPr>
          <a:xfrm>
            <a:off x="4462272" y="1993392"/>
            <a:ext cx="475488" cy="2331720"/>
          </a:xfrm>
          <a:prstGeom prst="rect">
            <a:avLst/>
          </a:prstGeom>
          <a:solidFill>
            <a:srgbClr val="2A2A24"/>
          </a:solidFill>
          <a:ln w="12700">
            <a:solidFill>
              <a:srgbClr val="2A2A2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462272" y="2459736"/>
            <a:ext cx="475488" cy="18653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657600" y="45537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النتيجة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263640" y="9601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/ 02 — PARETO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6263640" y="13990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كل حاجة</a:t>
            </a:r>
            <a:endParaRPr lang="en-US" sz="3400" dirty="0"/>
          </a:p>
        </p:txBody>
      </p:sp>
      <p:sp>
        <p:nvSpPr>
          <p:cNvPr id="52" name="Text 49"/>
          <p:cNvSpPr/>
          <p:nvPr/>
        </p:nvSpPr>
        <p:spPr>
          <a:xfrm>
            <a:off x="6263640" y="192938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بنفس الأهمية.</a:t>
            </a:r>
            <a:endParaRPr lang="en-US" sz="3400" dirty="0"/>
          </a:p>
        </p:txBody>
      </p:sp>
      <p:sp>
        <p:nvSpPr>
          <p:cNvPr id="53" name="Shape 50"/>
          <p:cNvSpPr/>
          <p:nvPr/>
        </p:nvSpPr>
        <p:spPr>
          <a:xfrm>
            <a:off x="10917936" y="3278124"/>
            <a:ext cx="82296" cy="822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63640" y="2999232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اسأل: إيه الجزء اللي لو خلصته يحقق أغلب أثر التاسك؟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10917936" y="3918204"/>
            <a:ext cx="82296" cy="822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63640" y="3639312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بأعلى ساعة طاقة — مش بالإيميل والتنضيف.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10917936" y="4558284"/>
            <a:ext cx="82296" cy="8229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263640" y="4279392"/>
            <a:ext cx="4544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المذاكرة: المفاهيم والأسئلة المتكررة قبل التفاصيل.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4CA6FF">
              <a:alpha val="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4CA6FF">
              <a:alpha val="3500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4CA6FF">
              <a:alpha val="12000"/>
            </a:srgbClr>
          </a:solidFill>
          <a:ln>
            <a:solidFill>
              <a:srgbClr val="4CA6F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التنفيذ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11:43 — 11:47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SYSTEM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أسبوع</a:t>
            </a:r>
            <a:endParaRPr lang="en-US" sz="40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سنة تنفيذ.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4008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المدى يقصر، الإلحاح يرجع.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6949440" y="1234440"/>
            <a:ext cx="3017520" cy="3017520"/>
          </a:xfrm>
          <a:prstGeom prst="ellipse">
            <a:avLst/>
          </a:prstGeom>
          <a:solidFill>
            <a:srgbClr val="4CA6FF">
              <a:alpha val="1000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726680" y="2011680"/>
            <a:ext cx="1463040" cy="1463040"/>
          </a:xfrm>
          <a:prstGeom prst="ellipse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91272" y="2176272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48" name="Text 45"/>
          <p:cNvSpPr/>
          <p:nvPr/>
        </p:nvSpPr>
        <p:spPr>
          <a:xfrm>
            <a:off x="7982712" y="26791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40" kern="0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6400800" y="987552"/>
            <a:ext cx="182880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193024" y="987552"/>
            <a:ext cx="36576" cy="868680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83680" y="11704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629400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هدف واضح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629400" y="1929384"/>
            <a:ext cx="13716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555480" y="2011680"/>
            <a:ext cx="182880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347704" y="2011680"/>
            <a:ext cx="36576" cy="868680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738360" y="2194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78408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أسبوعية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9784080" y="2953512"/>
            <a:ext cx="13716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8001000" y="4315968"/>
            <a:ext cx="182880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793224" y="4315968"/>
            <a:ext cx="36576" cy="868680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183880" y="44988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8229600" y="4791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صريح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229600" y="5257800"/>
            <a:ext cx="13716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6016752" y="3255264"/>
            <a:ext cx="182880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808976" y="3255264"/>
            <a:ext cx="36576" cy="868680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199632" y="34381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6245352" y="3730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وتعديل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245352" y="4197096"/>
            <a:ext cx="13716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640080" y="4983480"/>
            <a:ext cx="10515600" cy="658368"/>
          </a:xfrm>
          <a:prstGeom prst="rect">
            <a:avLst/>
          </a:prstGeom>
          <a:solidFill>
            <a:srgbClr val="4CA6FF">
              <a:alpha val="8000"/>
            </a:srgbClr>
          </a:solidFill>
          <a:ln w="12700">
            <a:solidFill>
              <a:srgbClr val="4CA6FF">
                <a:alpha val="30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960120" y="515721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Phantoms:  كل دورة = هدف تقني واحد قابل للقياس + تسليم صغير كل أسبوع.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7B3">
              <a:alpha val="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7B3">
              <a:alpha val="3500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7B3">
              <a:alpha val="12000"/>
            </a:srgbClr>
          </a:solidFill>
          <a:ln>
            <a:solidFill>
              <a:srgbClr val="FF67B3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11:47 — 11:53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/ 03 — COMMUNICATION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اشتغل كويس.</a:t>
            </a:r>
            <a:endParaRPr lang="en-US" sz="34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وخلي شغلك ظاهر.</a:t>
            </a:r>
            <a:endParaRPr lang="en-US" sz="3400" dirty="0"/>
          </a:p>
        </p:txBody>
      </p:sp>
      <p:sp>
        <p:nvSpPr>
          <p:cNvPr id="44" name="Text 41"/>
          <p:cNvSpPr/>
          <p:nvPr/>
        </p:nvSpPr>
        <p:spPr>
          <a:xfrm>
            <a:off x="640080" y="2788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الشغل الكويس مش دايماً بيتكلم عن نفسه.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709160" y="1188720"/>
            <a:ext cx="2103120" cy="393192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75704" y="1188720"/>
            <a:ext cx="36576" cy="393192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92040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937760" y="1664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حلول قبل الأسئلة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4937760" y="2130552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متقولش «نعمل إيه؟» بس؛ اقترح مسارين ورشّح واحد.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040880" y="1188720"/>
            <a:ext cx="2103120" cy="393192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107424" y="1188720"/>
            <a:ext cx="36576" cy="393192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223760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269480" y="1664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قبل الانطباع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269480" y="2130552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قول «قلّلنا الوقت 30%» بدل «الدنيا اتحسنت».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9372600" y="1188720"/>
            <a:ext cx="2103120" cy="393192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439144" y="1188720"/>
            <a:ext cx="36576" cy="393192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555480" y="1371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9601200" y="1664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موقف قبل الحياد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9601200" y="2130552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 رأياً واضحاً، واذكر السبب بهدوء.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2240280" y="5532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الثقة = وضوح + هدوء. مش عناد، ومش صوت عالي.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5EFDF">
              <a:alpha val="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5EFDF">
              <a:alpha val="3500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5EFDF">
              <a:alpha val="12000"/>
            </a:srgbClr>
          </a:solidFill>
          <a:ln>
            <a:solidFill>
              <a:srgbClr val="F5EFD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11:53 — 11:55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LANGUAGE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اتكلم كصاحب</a:t>
            </a:r>
            <a:endParaRPr lang="en-US" sz="35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مسؤولية.</a:t>
            </a:r>
            <a:endParaRPr lang="en-US" sz="3500" dirty="0"/>
          </a:p>
        </p:txBody>
      </p:sp>
      <p:sp>
        <p:nvSpPr>
          <p:cNvPr id="44" name="Shape 41"/>
          <p:cNvSpPr/>
          <p:nvPr/>
        </p:nvSpPr>
        <p:spPr>
          <a:xfrm>
            <a:off x="4526280" y="1143000"/>
            <a:ext cx="3063240" cy="3429000"/>
          </a:xfrm>
          <a:prstGeom prst="rect">
            <a:avLst/>
          </a:prstGeom>
          <a:solidFill>
            <a:srgbClr val="11110F"/>
          </a:solidFill>
          <a:ln w="12700">
            <a:solidFill>
              <a:srgbClr val="62352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552944" y="1143000"/>
            <a:ext cx="36576" cy="3429000"/>
          </a:xfrm>
          <a:prstGeom prst="rect">
            <a:avLst/>
          </a:prstGeom>
          <a:solidFill>
            <a:srgbClr val="FF765D"/>
          </a:solidFill>
          <a:ln w="12700">
            <a:solidFill>
              <a:srgbClr val="FF765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09160" y="13258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754880" y="16184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“أنا عملت اللي طلبتوه.”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4754880" y="2084832"/>
            <a:ext cx="2606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نفّذ الطلب فقط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64438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700" dirty="0"/>
          </a:p>
        </p:txBody>
      </p:sp>
      <p:sp>
        <p:nvSpPr>
          <p:cNvPr id="50" name="Shape 47"/>
          <p:cNvSpPr/>
          <p:nvPr/>
        </p:nvSpPr>
        <p:spPr>
          <a:xfrm>
            <a:off x="8138160" y="1143000"/>
            <a:ext cx="3337560" cy="3429000"/>
          </a:xfrm>
          <a:prstGeom prst="rect">
            <a:avLst/>
          </a:prstGeom>
          <a:solidFill>
            <a:srgbClr val="11110F"/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439144" y="1143000"/>
            <a:ext cx="36576" cy="3429000"/>
          </a:xfrm>
          <a:prstGeom prst="rect">
            <a:avLst/>
          </a:prstGeom>
          <a:solidFill>
            <a:srgbClr val="F5EFDF"/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321040" y="13258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مسؤولية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366760" y="16184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“عملت X، لاحظت Y، فعملت Z كمان.”</a:t>
            </a:r>
            <a:endParaRPr lang="en-US" sz="2100" dirty="0"/>
          </a:p>
        </p:txBody>
      </p:sp>
      <p:sp>
        <p:nvSpPr>
          <p:cNvPr id="54" name="Text 51"/>
          <p:cNvSpPr/>
          <p:nvPr/>
        </p:nvSpPr>
        <p:spPr>
          <a:xfrm>
            <a:off x="8366760" y="2084832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النتيجة وحرّكها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0080" y="4892040"/>
            <a:ext cx="10835640" cy="777240"/>
          </a:xfrm>
          <a:prstGeom prst="rect">
            <a:avLst/>
          </a:prstGeom>
          <a:solidFill>
            <a:srgbClr val="F5EFDF"/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778240" y="5074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 الاجتماع القادم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005840" y="502920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حضّر جملة واحدة تعبّر عن رأيك + سبب واحد يدعمه. متدخلش فاضي تستنى الكل يقول إيه.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4CA6FF">
              <a:alpha val="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4CA6FF">
              <a:alpha val="3500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4CA6FF">
              <a:alpha val="12000"/>
            </a:srgbClr>
          </a:solidFill>
          <a:ln>
            <a:solidFill>
              <a:srgbClr val="4CA6F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لمن يريد التعمّق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ثانية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 / BOOK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كتب.</a:t>
            </a:r>
            <a:endParaRPr lang="en-US" sz="40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أدوات.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40080" y="2816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عشان تطبّق، مش عشان تجمع عناوين.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617720" y="1078992"/>
            <a:ext cx="3154680" cy="187452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735824" y="1078992"/>
            <a:ext cx="36576" cy="187452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800600" y="12618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846320" y="1554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Habits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4846320" y="202082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Clear</a:t>
            </a:r>
            <a:endParaRPr lang="en-US" sz="1000" dirty="0"/>
          </a:p>
          <a:p>
            <a:pPr rtl="1" algn="r" indent="0" marL="0">
              <a:buNone/>
            </a:pP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صغير يتكرر، فيصنع فرقاً كبيراً.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046720" y="1078992"/>
            <a:ext cx="3154680" cy="187452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164824" y="1078992"/>
            <a:ext cx="36576" cy="1874520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29600" y="12618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275320" y="1554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Work</a:t>
            </a:r>
            <a:endParaRPr lang="en-US" sz="1700" dirty="0"/>
          </a:p>
        </p:txBody>
      </p:sp>
      <p:sp>
        <p:nvSpPr>
          <p:cNvPr id="54" name="Text 51"/>
          <p:cNvSpPr/>
          <p:nvPr/>
        </p:nvSpPr>
        <p:spPr>
          <a:xfrm>
            <a:off x="8275320" y="202082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 Newport</a:t>
            </a:r>
            <a:endParaRPr lang="en-US" sz="1000" dirty="0"/>
          </a:p>
          <a:p>
            <a:pPr rtl="1" algn="r" indent="0" marL="0">
              <a:buNone/>
            </a:pP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ساعتان بتركيز أفضل من أسبوع مشتت.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617720" y="3227832"/>
            <a:ext cx="3154680" cy="187452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35824" y="3227832"/>
            <a:ext cx="36576" cy="1874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800600" y="34107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4846320" y="3703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 Week Year</a:t>
            </a:r>
            <a:endParaRPr lang="en-US" sz="1700" dirty="0"/>
          </a:p>
        </p:txBody>
      </p:sp>
      <p:sp>
        <p:nvSpPr>
          <p:cNvPr id="59" name="Text 56"/>
          <p:cNvSpPr/>
          <p:nvPr/>
        </p:nvSpPr>
        <p:spPr>
          <a:xfrm>
            <a:off x="4846320" y="416966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Brian Moran</a:t>
            </a:r>
            <a:endParaRPr lang="en-US" sz="1000" dirty="0"/>
          </a:p>
          <a:p>
            <a:pPr rtl="1" algn="r" indent="0" marL="0">
              <a:buNone/>
            </a:pP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 الهدف البعيد إلى إلحاح أسبوعي.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046720" y="3227832"/>
            <a:ext cx="3154680" cy="187452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1164824" y="3227832"/>
            <a:ext cx="36576" cy="187452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229600" y="34107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8275320" y="3703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Stoic</a:t>
            </a:r>
            <a:endParaRPr lang="en-US" sz="1700" dirty="0"/>
          </a:p>
        </p:txBody>
      </p:sp>
      <p:sp>
        <p:nvSpPr>
          <p:cNvPr id="64" name="Text 61"/>
          <p:cNvSpPr/>
          <p:nvPr/>
        </p:nvSpPr>
        <p:spPr>
          <a:xfrm>
            <a:off x="8275320" y="416966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Ryan Holiday</a:t>
            </a:r>
            <a:endParaRPr lang="en-US" sz="1000" dirty="0"/>
          </a:p>
          <a:p>
            <a:pPr rtl="1" algn="r" indent="0" marL="0">
              <a:buNone/>
            </a:pP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ثبات انفعالي تحت الضغط.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C7FF42">
              <a:alpha val="3500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C7FF42">
              <a:alpha val="12000"/>
            </a:srgbClr>
          </a:solidFill>
          <a:ln>
            <a:solidFill>
              <a:srgbClr val="C7FF42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11:55 — 12:00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68680" y="1234440"/>
            <a:ext cx="3429000" cy="342900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34440" y="1600200"/>
            <a:ext cx="2697480" cy="269748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03120" y="2450592"/>
            <a:ext cx="960120" cy="96012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304288" y="2642616"/>
            <a:ext cx="576072" cy="576072"/>
          </a:xfrm>
          <a:prstGeom prst="ellipse">
            <a:avLst/>
          </a:prstGeom>
          <a:solidFill>
            <a:srgbClr val="C7FF42">
              <a:alpha val="2200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353312" y="43159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1600200" y="46451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2026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892040" y="9601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LAST SIGNAL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892040" y="1399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1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هنا…</a:t>
            </a:r>
            <a:endParaRPr lang="en-US" sz="4100" dirty="0"/>
          </a:p>
        </p:txBody>
      </p:sp>
      <p:sp>
        <p:nvSpPr>
          <p:cNvPr id="49" name="Text 46"/>
          <p:cNvSpPr/>
          <p:nvPr/>
        </p:nvSpPr>
        <p:spPr>
          <a:xfrm>
            <a:off x="4892040" y="192938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1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يبدأ الأثر.</a:t>
            </a:r>
            <a:endParaRPr lang="en-US" sz="4100" dirty="0"/>
          </a:p>
        </p:txBody>
      </p:sp>
      <p:sp>
        <p:nvSpPr>
          <p:cNvPr id="50" name="Shape 47"/>
          <p:cNvSpPr/>
          <p:nvPr/>
        </p:nvSpPr>
        <p:spPr>
          <a:xfrm>
            <a:off x="4892040" y="3172968"/>
            <a:ext cx="5943600" cy="1115568"/>
          </a:xfrm>
          <a:prstGeom prst="rect">
            <a:avLst/>
          </a:prstGeom>
          <a:solidFill>
            <a:srgbClr val="C7FF42">
              <a:alpha val="6000"/>
            </a:srgbClr>
          </a:solidFill>
          <a:ln w="12700">
            <a:solidFill>
              <a:srgbClr val="C7FF42">
                <a:alpha val="20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789920" y="3172968"/>
            <a:ext cx="45720" cy="1115568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424160" y="324612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5093208" y="3374136"/>
            <a:ext cx="5212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النهارده مش بس سمعتوا خطة؛ إنتوا بقيتوا جزء من كيان بيصنع فرق.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4892040" y="4617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لحضوركم، لالتزامكم، وللطاقة اللي كل واحد قرر يحطها هنا.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B35">
              <a:alpha val="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B35">
              <a:alpha val="12000"/>
            </a:srgbClr>
          </a:solidFill>
          <a:ln>
            <a:solidFill>
              <a:srgbClr val="FF6B35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التحوّل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6350">
            <a:solidFill>
              <a:srgbClr val="E45C30"/>
            </a:solidFill>
            <a:prstDash val="solid"/>
          </a:ln>
        </p:spPr>
      </p:sp>
      <p:pic>
        <p:nvPicPr>
          <p:cNvPr id="69" name="Image 0" descr="/home/user/traking/public/phantoms/phantom-cut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38912"/>
            <a:ext cx="3337560" cy="5916168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4709160" y="1051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MODE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4709160" y="157276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9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كلام الشغل</a:t>
            </a:r>
            <a:endParaRPr lang="en-US" sz="4900" dirty="0"/>
          </a:p>
        </p:txBody>
      </p:sp>
      <p:sp>
        <p:nvSpPr>
          <p:cNvPr id="72" name="Text 68"/>
          <p:cNvSpPr/>
          <p:nvPr/>
        </p:nvSpPr>
        <p:spPr>
          <a:xfrm>
            <a:off x="4709160" y="226771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900" b="1" dirty="0">
                <a:solidFill>
                  <a:srgbClr val="B54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خلص.</a:t>
            </a:r>
            <a:endParaRPr lang="en-US" sz="4900" dirty="0"/>
          </a:p>
        </p:txBody>
      </p:sp>
      <p:sp>
        <p:nvSpPr>
          <p:cNvPr id="73" name="Text 69"/>
          <p:cNvSpPr/>
          <p:nvPr/>
        </p:nvSpPr>
        <p:spPr>
          <a:xfrm>
            <a:off x="4709160" y="32918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اللحظة دي إحنا إخوات وصحاب.</a:t>
            </a:r>
            <a:endParaRPr lang="en-US" sz="2000" dirty="0"/>
          </a:p>
        </p:txBody>
      </p:sp>
      <p:sp>
        <p:nvSpPr>
          <p:cNvPr id="74" name="Shape 70"/>
          <p:cNvSpPr/>
          <p:nvPr/>
        </p:nvSpPr>
        <p:spPr>
          <a:xfrm>
            <a:off x="4709160" y="4160520"/>
            <a:ext cx="6126480" cy="960120"/>
          </a:xfrm>
          <a:prstGeom prst="rect">
            <a:avLst/>
          </a:prstGeom>
          <a:solidFill>
            <a:srgbClr val="FF6B35"/>
          </a:solidFill>
          <a:ln w="25400">
            <a:solidFill>
              <a:srgbClr val="0B0C09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4983480" y="437997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B0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 نفصل… ونشوف مين هيسد ومين هيخسر في اللعب.</a:t>
            </a:r>
            <a:endParaRPr lang="en-US" sz="1600" dirty="0"/>
          </a:p>
        </p:txBody>
      </p:sp>
      <p:sp>
        <p:nvSpPr>
          <p:cNvPr id="76" name="Text 72"/>
          <p:cNvSpPr/>
          <p:nvPr/>
        </p:nvSpPr>
        <p:spPr>
          <a:xfrm>
            <a:off x="4709160" y="5715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9A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 / FIRST ASSEMBLY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5EFDF">
              <a:alpha val="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5EFDF">
              <a:alpha val="3500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5EFDF">
              <a:alpha val="12000"/>
            </a:srgbClr>
          </a:solidFill>
          <a:ln>
            <a:solidFill>
              <a:srgbClr val="F5EFD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يُرسل بعد الاجتماع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 مكتوب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320040" y="868680"/>
            <a:ext cx="3246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0" b="1" dirty="0">
                <a:solidFill>
                  <a:srgbClr val="383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000" dirty="0"/>
          </a:p>
        </p:txBody>
      </p:sp>
      <p:sp>
        <p:nvSpPr>
          <p:cNvPr id="42" name="Text 39"/>
          <p:cNvSpPr/>
          <p:nvPr/>
        </p:nvSpPr>
        <p:spPr>
          <a:xfrm>
            <a:off x="3246120" y="10515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LATER / NOT LIVE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246120" y="14904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اللي ما قلناهوش…</a:t>
            </a:r>
            <a:endParaRPr lang="en-US" sz="3500" dirty="0"/>
          </a:p>
        </p:txBody>
      </p:sp>
      <p:sp>
        <p:nvSpPr>
          <p:cNvPr id="44" name="Text 41"/>
          <p:cNvSpPr/>
          <p:nvPr/>
        </p:nvSpPr>
        <p:spPr>
          <a:xfrm>
            <a:off x="3246120" y="202082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موجود هنا.</a:t>
            </a:r>
            <a:endParaRPr lang="en-US" sz="3500" dirty="0"/>
          </a:p>
        </p:txBody>
      </p:sp>
      <p:sp>
        <p:nvSpPr>
          <p:cNvPr id="45" name="Text 42"/>
          <p:cNvSpPr/>
          <p:nvPr/>
        </p:nvSpPr>
        <p:spPr>
          <a:xfrm>
            <a:off x="3246120" y="31272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 مكتوب يوصل بعد الاجتماع بساعات — كامل، واضح، ويرجعوله وقت ما يحتاجوه.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275320" y="123444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8778240" y="11338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12 Week Year خطوة بخطوة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8275320" y="1874520"/>
            <a:ext cx="2971800" cy="0"/>
          </a:xfrm>
          <a:prstGeom prst="line">
            <a:avLst/>
          </a:prstGeom>
          <a:noFill/>
          <a:ln w="10160">
            <a:solidFill>
              <a:srgbClr val="3B393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275320" y="22219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778240" y="21214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اختيار فكرة + MVP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8275320" y="2862072"/>
            <a:ext cx="2971800" cy="0"/>
          </a:xfrm>
          <a:prstGeom prst="line">
            <a:avLst/>
          </a:prstGeom>
          <a:noFill/>
          <a:ln w="10160">
            <a:solidFill>
              <a:srgbClr val="3B393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75320" y="320954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778240" y="31089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ملخصات الكتب الأربعة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8275320" y="3849624"/>
            <a:ext cx="2971800" cy="0"/>
          </a:xfrm>
          <a:prstGeom prst="line">
            <a:avLst/>
          </a:prstGeom>
          <a:noFill/>
          <a:ln w="10160">
            <a:solidFill>
              <a:srgbClr val="3B393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275320" y="41970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8778240" y="409651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اللجان بالتواريخ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8275320" y="4837176"/>
            <a:ext cx="2971800" cy="0"/>
          </a:xfrm>
          <a:prstGeom prst="line">
            <a:avLst/>
          </a:prstGeom>
          <a:noFill/>
          <a:ln w="10160">
            <a:solidFill>
              <a:srgbClr val="3B393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4CA6FF">
              <a:alpha val="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4CA6FF">
              <a:alpha val="3500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4CA6FF">
              <a:alpha val="12000"/>
            </a:srgbClr>
          </a:solidFill>
          <a:ln>
            <a:solidFill>
              <a:srgbClr val="4CA6F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 Year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خطوات التطبيق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هدف كبير</a:t>
            </a:r>
            <a:endParaRPr lang="en-US" sz="35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لإيقاع أسبوعي.</a:t>
            </a:r>
            <a:endParaRPr lang="en-US" sz="3500" dirty="0"/>
          </a:p>
        </p:txBody>
      </p:sp>
      <p:sp>
        <p:nvSpPr>
          <p:cNvPr id="44" name="Shape 41"/>
          <p:cNvSpPr/>
          <p:nvPr/>
        </p:nvSpPr>
        <p:spPr>
          <a:xfrm>
            <a:off x="4572000" y="1069848"/>
            <a:ext cx="2075688" cy="198424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611112" y="1069848"/>
            <a:ext cx="36576" cy="198424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54880" y="1252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800600" y="154533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 نتيجة واحدة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4800600" y="2011680"/>
            <a:ext cx="1618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واضحة، محددة، وممكن قياسها بنهاية الأسبوع 12.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876288" y="1069848"/>
            <a:ext cx="2075688" cy="198424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15400" y="1069848"/>
            <a:ext cx="36576" cy="198424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059168" y="1252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104888" y="154533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 دليل النجاح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7104888" y="2011680"/>
            <a:ext cx="1618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Demo، مشروع شغال، اختبار، أو مستخدم حقيقي — مش إحساس.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180576" y="1069848"/>
            <a:ext cx="2075688" cy="198424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219688" y="1069848"/>
            <a:ext cx="36576" cy="198424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363456" y="1252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409176" y="154533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قسّمها لـ12 تسليم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9409176" y="2011680"/>
            <a:ext cx="1618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أسبوع حركة صغيرة تقرّبك من النتيجة النهائية.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572000" y="3310128"/>
            <a:ext cx="2075688" cy="198424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611112" y="3310128"/>
            <a:ext cx="36576" cy="198424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754880" y="3493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4800600" y="378561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احجز وقت التنفيذ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4800600" y="4251960"/>
            <a:ext cx="1618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جلسات ثابتة في التقويم قبل ما الأسبوع يتملي.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876288" y="3310128"/>
            <a:ext cx="2075688" cy="198424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915400" y="3310128"/>
            <a:ext cx="36576" cy="198424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059168" y="3493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104888" y="378561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كل أسبوع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7104888" y="4251960"/>
            <a:ext cx="1618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اتنفّذ؟ إيه اتعطّل؟ وإيه التعديل الضروري؟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9180576" y="3310128"/>
            <a:ext cx="2075688" cy="198424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1219688" y="3310128"/>
            <a:ext cx="36576" cy="198424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363456" y="34930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9409176" y="378561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أغلق الدورة</a:t>
            </a:r>
            <a:endParaRPr lang="en-US" sz="1500" dirty="0"/>
          </a:p>
        </p:txBody>
      </p:sp>
      <p:sp>
        <p:nvSpPr>
          <p:cNvPr id="73" name="Text 70"/>
          <p:cNvSpPr/>
          <p:nvPr/>
        </p:nvSpPr>
        <p:spPr>
          <a:xfrm>
            <a:off x="9409176" y="4251960"/>
            <a:ext cx="1618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احتفل، وثّق الدروس، ثم صمّم الدورة التالية.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C7FF42">
              <a:alpha val="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C7FF42">
              <a:alpha val="35000"/>
            </a:srgbClr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C7FF42">
              <a:alpha val="12000"/>
            </a:srgbClr>
          </a:solidFill>
          <a:ln>
            <a:solidFill>
              <a:srgbClr val="C7FF42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 Year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SCOREBOARD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التنفيذ…</a:t>
            </a:r>
            <a:endParaRPr lang="en-US" sz="37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7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النوايا.</a:t>
            </a:r>
            <a:endParaRPr lang="en-US" sz="3700" dirty="0"/>
          </a:p>
        </p:txBody>
      </p:sp>
      <p:sp>
        <p:nvSpPr>
          <p:cNvPr id="44" name="Text 41"/>
          <p:cNvSpPr/>
          <p:nvPr/>
        </p:nvSpPr>
        <p:spPr>
          <a:xfrm>
            <a:off x="640080" y="29443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مش شايف الرقم، مش هتعرف تصلّح المسار.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709160" y="1143000"/>
            <a:ext cx="6400800" cy="4160520"/>
          </a:xfrm>
          <a:prstGeom prst="rect">
            <a:avLst/>
          </a:prstGeom>
          <a:solidFill>
            <a:srgbClr val="11110F"/>
          </a:solidFill>
          <a:ln w="12700">
            <a:solidFill>
              <a:srgbClr val="4A4B4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7492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06 / 12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738360" y="1325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500" dirty="0"/>
          </a:p>
        </p:txBody>
      </p:sp>
      <p:sp>
        <p:nvSpPr>
          <p:cNvPr id="48" name="Shape 45"/>
          <p:cNvSpPr/>
          <p:nvPr/>
        </p:nvSpPr>
        <p:spPr>
          <a:xfrm>
            <a:off x="5074920" y="2029968"/>
            <a:ext cx="5669280" cy="91440"/>
          </a:xfrm>
          <a:prstGeom prst="rect">
            <a:avLst/>
          </a:prstGeom>
          <a:solidFill>
            <a:srgbClr val="2C2D26"/>
          </a:solidFill>
          <a:ln w="12700">
            <a:solidFill>
              <a:srgbClr val="2C2D2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74920" y="2029968"/>
            <a:ext cx="4425696" cy="9144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074920" y="2542032"/>
            <a:ext cx="1700784" cy="153619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739128" y="2542032"/>
            <a:ext cx="36576" cy="1536192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257800" y="27249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5303520" y="30175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2300" dirty="0"/>
          </a:p>
        </p:txBody>
      </p:sp>
      <p:sp>
        <p:nvSpPr>
          <p:cNvPr id="54" name="Text 51"/>
          <p:cNvSpPr/>
          <p:nvPr/>
        </p:nvSpPr>
        <p:spPr>
          <a:xfrm>
            <a:off x="5303520" y="3483864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تاسكات الأسبوع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976872" y="2542032"/>
            <a:ext cx="1700784" cy="153619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641080" y="2542032"/>
            <a:ext cx="36576" cy="1536192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159752" y="27249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205472" y="30175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" dirty="0"/>
          </a:p>
        </p:txBody>
      </p:sp>
      <p:sp>
        <p:nvSpPr>
          <p:cNvPr id="59" name="Text 56"/>
          <p:cNvSpPr/>
          <p:nvPr/>
        </p:nvSpPr>
        <p:spPr>
          <a:xfrm>
            <a:off x="7205472" y="3483864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قابل للتجربة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8878824" y="2542032"/>
            <a:ext cx="1700784" cy="1536192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543032" y="2542032"/>
            <a:ext cx="36576" cy="1536192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061704" y="27249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9107424" y="30175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2300" dirty="0"/>
          </a:p>
        </p:txBody>
      </p:sp>
      <p:sp>
        <p:nvSpPr>
          <p:cNvPr id="64" name="Text 61"/>
          <p:cNvSpPr/>
          <p:nvPr/>
        </p:nvSpPr>
        <p:spPr>
          <a:xfrm>
            <a:off x="9107424" y="3483864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جلسات Deep Work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074920" y="440740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 ≥ 85% تنفيذ أسبوعي، ثم نراجع جودة الناتج.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640080" y="4983480"/>
            <a:ext cx="10469880" cy="731520"/>
          </a:xfrm>
          <a:prstGeom prst="rect">
            <a:avLst/>
          </a:prstGeom>
          <a:solidFill>
            <a:srgbClr val="C7FF42">
              <a:alpha val="6000"/>
            </a:srgbClr>
          </a:solidFill>
          <a:ln w="12700">
            <a:solidFill>
              <a:srgbClr val="C7FF42">
                <a:alpha val="2000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1064240" y="4983480"/>
            <a:ext cx="45720" cy="731520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0698480" y="505663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400" dirty="0"/>
          </a:p>
        </p:txBody>
      </p:sp>
      <p:sp>
        <p:nvSpPr>
          <p:cNvPr id="69" name="Text 66"/>
          <p:cNvSpPr/>
          <p:nvPr/>
        </p:nvSpPr>
        <p:spPr>
          <a:xfrm>
            <a:off x="841248" y="5184648"/>
            <a:ext cx="9738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السنوي يحفّزك يومين. لوحة القياس الأسبوعية تغيّر سلوكك 12 أسبوع.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7B3">
              <a:alpha val="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7B3">
              <a:alpha val="35000"/>
            </a:srgbClr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7B3">
              <a:alpha val="12000"/>
            </a:srgbClr>
          </a:solidFill>
          <a:ln>
            <a:solidFill>
              <a:srgbClr val="FF67B3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Thinking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اختيار الفكرة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PRODUCT–MARKET FIT / LITE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</a:t>
            </a:r>
            <a:endParaRPr lang="en-US" sz="39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ألم حقيقي.</a:t>
            </a:r>
            <a:endParaRPr lang="en-US" sz="3900" dirty="0"/>
          </a:p>
        </p:txBody>
      </p:sp>
      <p:sp>
        <p:nvSpPr>
          <p:cNvPr id="44" name="Text 41"/>
          <p:cNvSpPr/>
          <p:nvPr/>
        </p:nvSpPr>
        <p:spPr>
          <a:xfrm>
            <a:off x="640080" y="2907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من تقنية نفسك تجربها.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4754880" y="960120"/>
            <a:ext cx="630936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027664" y="960120"/>
            <a:ext cx="36576" cy="86868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37760" y="1143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983480" y="14356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محدد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4983480" y="1901952"/>
            <a:ext cx="585216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مين الشخص؟ وإمتى تظهر مشكلته؟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754880" y="2039112"/>
            <a:ext cx="566928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387584" y="2039112"/>
            <a:ext cx="36576" cy="86868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937760" y="22219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983480" y="25146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مشكلة متكررة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4983480" y="2980944"/>
            <a:ext cx="521208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تكلفتها: وقت، فلوس، مخاطرة؟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4754880" y="3118104"/>
            <a:ext cx="502920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747504" y="3118104"/>
            <a:ext cx="36576" cy="86868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937760" y="33009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4983480" y="3593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على الطلب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4983480" y="4059936"/>
            <a:ext cx="457200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جرّب حل؟ هل سيدفع أو يغيّر سلوكه؟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754880" y="4197096"/>
            <a:ext cx="4389120" cy="86868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107424" y="4197096"/>
            <a:ext cx="36576" cy="868680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937760" y="43799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983480" y="46725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وعد واحد واضح</a:t>
            </a:r>
            <a:endParaRPr lang="en-US" sz="1300" dirty="0"/>
          </a:p>
        </p:txBody>
      </p:sp>
      <p:sp>
        <p:nvSpPr>
          <p:cNvPr id="64" name="Text 61"/>
          <p:cNvSpPr/>
          <p:nvPr/>
        </p:nvSpPr>
        <p:spPr>
          <a:xfrm>
            <a:off x="4983480" y="5138928"/>
            <a:ext cx="393192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التحسّن المحدد اللي هنصنعه؟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40080" y="5166360"/>
            <a:ext cx="10424160" cy="512064"/>
          </a:xfrm>
          <a:prstGeom prst="rect">
            <a:avLst/>
          </a:prstGeom>
          <a:solidFill>
            <a:srgbClr val="FF67B3">
              <a:alpha val="8000"/>
            </a:srgbClr>
          </a:solidFill>
          <a:ln w="12700">
            <a:solidFill>
              <a:srgbClr val="FF67B3">
                <a:alpha val="25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05840" y="530352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معرفتش تقول المستخدم والمشكلة في جملة واحدة، الفكرة لسه مش ناضجة.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F6B35">
              <a:alpha val="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F6B35">
              <a:alpha val="3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F6B35">
              <a:alpha val="12000"/>
            </a:srgbClr>
          </a:solidFill>
          <a:ln>
            <a:solidFill>
              <a:srgbClr val="FF6B35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Thinking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841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≠ MINI PRODUCT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280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أصغر تجربة…</a:t>
            </a:r>
            <a:endParaRPr lang="en-US" sz="3500" dirty="0"/>
          </a:p>
        </p:txBody>
      </p:sp>
      <p:sp>
        <p:nvSpPr>
          <p:cNvPr id="43" name="Text 40"/>
          <p:cNvSpPr/>
          <p:nvPr/>
        </p:nvSpPr>
        <p:spPr>
          <a:xfrm>
            <a:off x="640080" y="18105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بأكبر تعلّم.</a:t>
            </a:r>
            <a:endParaRPr lang="en-US" sz="3500" dirty="0"/>
          </a:p>
        </p:txBody>
      </p:sp>
      <p:sp>
        <p:nvSpPr>
          <p:cNvPr id="44" name="Shape 41"/>
          <p:cNvSpPr/>
          <p:nvPr/>
        </p:nvSpPr>
        <p:spPr>
          <a:xfrm>
            <a:off x="4297680" y="1325880"/>
            <a:ext cx="2176272" cy="333756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37376" y="1325880"/>
            <a:ext cx="36576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80560" y="15087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526280" y="18013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أخطر افتراض</a:t>
            </a:r>
            <a:endParaRPr lang="en-US" sz="1700" dirty="0"/>
          </a:p>
        </p:txBody>
      </p:sp>
      <p:sp>
        <p:nvSpPr>
          <p:cNvPr id="48" name="Text 45"/>
          <p:cNvSpPr/>
          <p:nvPr/>
        </p:nvSpPr>
        <p:spPr>
          <a:xfrm>
            <a:off x="4526280" y="2267712"/>
            <a:ext cx="17190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الحاجة اللي لو طلعت غلط، الفكرة كلها تقع؟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492240" y="2587752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300" dirty="0"/>
          </a:p>
        </p:txBody>
      </p:sp>
      <p:sp>
        <p:nvSpPr>
          <p:cNvPr id="50" name="Shape 47"/>
          <p:cNvSpPr/>
          <p:nvPr/>
        </p:nvSpPr>
        <p:spPr>
          <a:xfrm>
            <a:off x="6748272" y="1325880"/>
            <a:ext cx="2176272" cy="3337560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887968" y="1325880"/>
            <a:ext cx="36576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931152" y="15087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976872" y="18013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أسرع اختبار</a:t>
            </a:r>
            <a:endParaRPr lang="en-US" sz="1700" dirty="0"/>
          </a:p>
        </p:txBody>
      </p:sp>
      <p:sp>
        <p:nvSpPr>
          <p:cNvPr id="54" name="Text 51"/>
          <p:cNvSpPr/>
          <p:nvPr/>
        </p:nvSpPr>
        <p:spPr>
          <a:xfrm>
            <a:off x="6976872" y="2267712"/>
            <a:ext cx="17190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page، prototype، concierge، أو feature واحدة.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942832" y="2587752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300" dirty="0"/>
          </a:p>
        </p:txBody>
      </p:sp>
      <p:sp>
        <p:nvSpPr>
          <p:cNvPr id="56" name="Shape 53"/>
          <p:cNvSpPr/>
          <p:nvPr/>
        </p:nvSpPr>
        <p:spPr>
          <a:xfrm>
            <a:off x="9198864" y="1325880"/>
            <a:ext cx="2176272" cy="3337560"/>
          </a:xfrm>
          <a:prstGeom prst="rect">
            <a:avLst/>
          </a:prstGeom>
          <a:solidFill>
            <a:srgbClr val="11110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1338560" y="1325880"/>
            <a:ext cx="36576" cy="3337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381744" y="15087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427464" y="180136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مبني على دليل</a:t>
            </a:r>
            <a:endParaRPr lang="en-US" sz="1700" dirty="0"/>
          </a:p>
        </p:txBody>
      </p:sp>
      <p:sp>
        <p:nvSpPr>
          <p:cNvPr id="60" name="Text 57"/>
          <p:cNvSpPr/>
          <p:nvPr/>
        </p:nvSpPr>
        <p:spPr>
          <a:xfrm>
            <a:off x="9427464" y="2267712"/>
            <a:ext cx="17190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نكمل؟ نعدّل؟ ولا نوقف قبل حرق الوقت؟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4389120" y="507492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394960" y="5029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5833872" y="5074920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7114032" y="5029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7571232" y="507492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F5EFDF">
              <a:alpha val="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F5EFDF">
              <a:alpha val="35000"/>
            </a:srgbClr>
          </a:solidFill>
          <a:ln w="12700">
            <a:solidFill>
              <a:srgbClr val="F5EF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F5EFDF">
              <a:alpha val="12000"/>
            </a:srgbClr>
          </a:solidFill>
          <a:ln>
            <a:solidFill>
              <a:srgbClr val="F5EFD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مكتبة Phantoms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ملخصات مرجعية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914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NOTES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3533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بهدف</a:t>
            </a:r>
            <a:endParaRPr lang="en-US" sz="3900" dirty="0"/>
          </a:p>
        </p:txBody>
      </p:sp>
      <p:sp>
        <p:nvSpPr>
          <p:cNvPr id="43" name="Text 40"/>
          <p:cNvSpPr/>
          <p:nvPr/>
        </p:nvSpPr>
        <p:spPr>
          <a:xfrm>
            <a:off x="640080" y="18836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9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التطبيق.</a:t>
            </a:r>
            <a:endParaRPr lang="en-US" sz="3900" dirty="0"/>
          </a:p>
        </p:txBody>
      </p:sp>
      <p:sp>
        <p:nvSpPr>
          <p:cNvPr id="44" name="Shape 41"/>
          <p:cNvSpPr/>
          <p:nvPr/>
        </p:nvSpPr>
        <p:spPr>
          <a:xfrm>
            <a:off x="4251960" y="960120"/>
            <a:ext cx="3172968" cy="20299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388352" y="960120"/>
            <a:ext cx="36576" cy="2029968"/>
          </a:xfrm>
          <a:prstGeom prst="rect">
            <a:avLst/>
          </a:prstGeom>
          <a:solidFill>
            <a:srgbClr val="C7FF42"/>
          </a:solidFill>
          <a:ln w="12700">
            <a:solidFill>
              <a:srgbClr val="C7FF4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34840" y="1143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480560" y="1435608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Habits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480560" y="1901952"/>
            <a:ext cx="2715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غيّر البيئة قبل ما تلوم الإرادة. صغّر العادة، اربطها بإشارة ثابتة، وتابع الاستمرارية.</a:t>
            </a:r>
            <a:endParaRPr lang="en-US" sz="900" dirty="0"/>
          </a:p>
          <a:p>
            <a:pPr rtl="1" algn="r" indent="0" marL="0">
              <a:buNone/>
            </a:pP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تطبيق: 30 دقيقة تطوير بعد أول قهوة.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708392" y="960120"/>
            <a:ext cx="3172968" cy="20299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844784" y="960120"/>
            <a:ext cx="36576" cy="2029968"/>
          </a:xfrm>
          <a:prstGeom prst="rect">
            <a:avLst/>
          </a:prstGeom>
          <a:solidFill>
            <a:srgbClr val="4CA6FF"/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91272" y="1143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936992" y="1435608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Work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936992" y="1901952"/>
            <a:ext cx="2715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احمِ وقتاً بلا مقاطعات لمهمة معرفية صعبة. أغلق الإشعارات، حدّد نهاية، ثم قِس الناتج.</a:t>
            </a:r>
            <a:endParaRPr lang="en-US" sz="900" dirty="0"/>
          </a:p>
          <a:p>
            <a:pPr rtl="1" algn="r" indent="0" marL="0">
              <a:buNone/>
            </a:pP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تطبيق: جلستان × 60 دقيقة أسبوعياً.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251960" y="3227832"/>
            <a:ext cx="3172968" cy="20299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88352" y="3227832"/>
            <a:ext cx="36576" cy="20299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434840" y="34107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480560" y="3703320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 Week Year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4480560" y="4169664"/>
            <a:ext cx="2715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هدف قصير، خطة أسبوعية، وScoreboard. التنفيذ يُراجع كل أسبوع لا آخر السنة.</a:t>
            </a:r>
            <a:endParaRPr lang="en-US" sz="900" dirty="0"/>
          </a:p>
          <a:p>
            <a:pPr rtl="1" algn="r" indent="0" marL="0">
              <a:buNone/>
            </a:pP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تطبيق: نسبة تنفيذ أسبوعية واضحة.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708392" y="3227832"/>
            <a:ext cx="3172968" cy="2029968"/>
          </a:xfrm>
          <a:prstGeom prst="rect">
            <a:avLst/>
          </a:prstGeom>
          <a:solidFill>
            <a:srgbClr val="11110F"/>
          </a:solidFill>
          <a:ln w="12700">
            <a:solidFill>
              <a:srgbClr val="292922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844784" y="3227832"/>
            <a:ext cx="36576" cy="2029968"/>
          </a:xfrm>
          <a:prstGeom prst="rect">
            <a:avLst/>
          </a:prstGeom>
          <a:solidFill>
            <a:srgbClr val="FF67B3"/>
          </a:solidFill>
          <a:ln w="12700">
            <a:solidFill>
              <a:srgbClr val="FF67B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891272" y="34107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936992" y="3703320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Stoic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7936992" y="4169664"/>
            <a:ext cx="2715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فرّق بين ما تملكه وما لا تملكه. ركّز على قرارك واستجابتك وجودة فعلك تحت الضغط.</a:t>
            </a:r>
            <a:endParaRPr lang="en-US" sz="900" dirty="0"/>
          </a:p>
          <a:p>
            <a:pPr rtl="1" algn="r" indent="0" marL="0">
              <a:buNone/>
            </a:pPr>
            <a:endParaRPr lang="en-US" sz="900" dirty="0"/>
          </a:p>
          <a:p>
            <a:pPr rtl="1" algn="r" indent="0" marL="0">
              <a:buNone/>
            </a:pPr>
            <a:r>
              <a:rPr lang="en-US" sz="9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تطبيق: مراجعة هادئة في نهاية اليوم.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842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874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560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9319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6177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035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9893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12191695" cy="0"/>
          </a:xfrm>
          <a:prstGeom prst="line">
            <a:avLst/>
          </a:prstGeom>
          <a:noFill/>
          <a:ln w="4445">
            <a:solidFill>
              <a:srgbClr val="2929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83464"/>
            <a:ext cx="182880" cy="182880"/>
          </a:xfrm>
          <a:prstGeom prst="ellipse">
            <a:avLst/>
          </a:prstGeom>
          <a:solidFill>
            <a:srgbClr val="4CA6FF">
              <a:alpha val="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29184"/>
            <a:ext cx="91440" cy="91440"/>
          </a:xfrm>
          <a:prstGeom prst="ellipse">
            <a:avLst/>
          </a:prstGeom>
          <a:solidFill>
            <a:srgbClr val="4CA6FF">
              <a:alpha val="35000"/>
            </a:srgbClr>
          </a:solidFill>
          <a:ln w="12700">
            <a:solidFill>
              <a:srgbClr val="4C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83080" y="2926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41080" y="283464"/>
            <a:ext cx="685800" cy="182880"/>
          </a:xfrm>
          <a:prstGeom prst="rect">
            <a:avLst/>
          </a:prstGeom>
          <a:solidFill>
            <a:srgbClr val="4CA6FF">
              <a:alpha val="12000"/>
            </a:srgbClr>
          </a:solidFill>
          <a:ln>
            <a:solidFill>
              <a:srgbClr val="4CA6FF">
                <a:alpha val="65000"/>
              </a:srgbClr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372600" y="283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2834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أسبوع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spc="120" kern="0" dirty="0">
                <a:solidFill>
                  <a:srgbClr val="77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ASSEMBLY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00200" y="6565392"/>
            <a:ext cx="502920" cy="0"/>
          </a:xfrm>
          <a:prstGeom prst="line">
            <a:avLst/>
          </a:prstGeom>
          <a:noFill/>
          <a:ln w="7620">
            <a:solidFill>
              <a:srgbClr val="5C5C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648309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0080" y="822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12-WEEK ROADMAP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40080" y="12618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 → البناء</a:t>
            </a:r>
            <a:endParaRPr lang="en-US" sz="3400" dirty="0"/>
          </a:p>
        </p:txBody>
      </p:sp>
      <p:sp>
        <p:nvSpPr>
          <p:cNvPr id="43" name="Text 40"/>
          <p:cNvSpPr/>
          <p:nvPr/>
        </p:nvSpPr>
        <p:spPr>
          <a:xfrm>
            <a:off x="640080" y="179222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الدمج.</a:t>
            </a:r>
            <a:endParaRPr lang="en-US" sz="3400" dirty="0"/>
          </a:p>
        </p:txBody>
      </p:sp>
      <p:sp>
        <p:nvSpPr>
          <p:cNvPr id="44" name="Text 41"/>
          <p:cNvSpPr/>
          <p:nvPr/>
        </p:nvSpPr>
        <p:spPr>
          <a:xfrm>
            <a:off x="640080" y="27432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 التواريخ المعتمدة بجانب كل أسبوع قبل الإرسال.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389120" y="1051560"/>
            <a:ext cx="6858000" cy="4297680"/>
          </a:xfrm>
          <a:prstGeom prst="rect">
            <a:avLst/>
          </a:prstGeom>
          <a:solidFill>
            <a:srgbClr val="15140F"/>
          </a:solidFill>
          <a:ln w="12700">
            <a:solidFill>
              <a:srgbClr val="41413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40680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5903976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6367272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6830568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7293864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7757160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8220456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8683752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9147048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9610344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10073640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10536936" y="12527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9A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4498848" y="2084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5449824" y="1828800"/>
            <a:ext cx="1261872" cy="640080"/>
          </a:xfrm>
          <a:prstGeom prst="rect">
            <a:avLst/>
          </a:prstGeom>
          <a:solidFill>
            <a:srgbClr val="C7FF42">
              <a:alpha val="9000"/>
            </a:srgbClr>
          </a:solidFill>
          <a:ln w="12700">
            <a:solidFill>
              <a:srgbClr val="C7FF42">
                <a:alpha val="4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522976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839712" y="1828800"/>
            <a:ext cx="1261872" cy="640080"/>
          </a:xfrm>
          <a:prstGeom prst="rect">
            <a:avLst/>
          </a:prstGeom>
          <a:solidFill>
            <a:srgbClr val="C7FF42">
              <a:alpha val="9000"/>
            </a:srgbClr>
          </a:solidFill>
          <a:ln w="12700">
            <a:solidFill>
              <a:srgbClr val="C7FF42">
                <a:alpha val="4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912864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8229600" y="1828800"/>
            <a:ext cx="1261872" cy="640080"/>
          </a:xfrm>
          <a:prstGeom prst="rect">
            <a:avLst/>
          </a:prstGeom>
          <a:solidFill>
            <a:srgbClr val="C7FF42">
              <a:alpha val="9000"/>
            </a:srgbClr>
          </a:solidFill>
          <a:ln w="12700">
            <a:solidFill>
              <a:srgbClr val="C7FF42">
                <a:alpha val="4000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302752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9619488" y="1828800"/>
            <a:ext cx="1261872" cy="640080"/>
          </a:xfrm>
          <a:prstGeom prst="rect">
            <a:avLst/>
          </a:prstGeom>
          <a:solidFill>
            <a:srgbClr val="C7FF42">
              <a:alpha val="9000"/>
            </a:srgbClr>
          </a:solidFill>
          <a:ln w="12700">
            <a:solidFill>
              <a:srgbClr val="C7FF42">
                <a:alpha val="40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92640" y="20299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389120" y="2606040"/>
            <a:ext cx="6858000" cy="0"/>
          </a:xfrm>
          <a:prstGeom prst="line">
            <a:avLst/>
          </a:prstGeom>
          <a:noFill/>
          <a:ln w="7620">
            <a:solidFill>
              <a:srgbClr val="35352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498848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5449824" y="2788920"/>
            <a:ext cx="1261872" cy="640080"/>
          </a:xfrm>
          <a:prstGeom prst="rect">
            <a:avLst/>
          </a:prstGeom>
          <a:solidFill>
            <a:srgbClr val="FF6B35">
              <a:alpha val="9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522976" y="29900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6839712" y="2788920"/>
            <a:ext cx="1261872" cy="640080"/>
          </a:xfrm>
          <a:prstGeom prst="rect">
            <a:avLst/>
          </a:prstGeom>
          <a:solidFill>
            <a:srgbClr val="FF6B35">
              <a:alpha val="9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912864" y="29900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8229600" y="2788920"/>
            <a:ext cx="1261872" cy="640080"/>
          </a:xfrm>
          <a:prstGeom prst="rect">
            <a:avLst/>
          </a:prstGeom>
          <a:solidFill>
            <a:srgbClr val="FF6B35">
              <a:alpha val="9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302752" y="29900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9619488" y="2788920"/>
            <a:ext cx="1261872" cy="640080"/>
          </a:xfrm>
          <a:prstGeom prst="rect">
            <a:avLst/>
          </a:prstGeom>
          <a:solidFill>
            <a:srgbClr val="FF6B35">
              <a:alpha val="9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692640" y="29900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389120" y="3566160"/>
            <a:ext cx="6858000" cy="0"/>
          </a:xfrm>
          <a:prstGeom prst="line">
            <a:avLst/>
          </a:prstGeom>
          <a:noFill/>
          <a:ln w="7620">
            <a:solidFill>
              <a:srgbClr val="35352F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498848" y="4005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5449824" y="3749040"/>
            <a:ext cx="1261872" cy="640080"/>
          </a:xfrm>
          <a:prstGeom prst="rect">
            <a:avLst/>
          </a:prstGeom>
          <a:solidFill>
            <a:srgbClr val="4CA6FF">
              <a:alpha val="9000"/>
            </a:srgbClr>
          </a:solidFill>
          <a:ln w="12700">
            <a:solidFill>
              <a:srgbClr val="4CA6FF">
                <a:alpha val="40000"/>
              </a:srgbClr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522976" y="39502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6839712" y="3749040"/>
            <a:ext cx="1261872" cy="640080"/>
          </a:xfrm>
          <a:prstGeom prst="rect">
            <a:avLst/>
          </a:prstGeom>
          <a:solidFill>
            <a:srgbClr val="4CA6FF">
              <a:alpha val="9000"/>
            </a:srgbClr>
          </a:solidFill>
          <a:ln w="12700">
            <a:solidFill>
              <a:srgbClr val="4CA6FF">
                <a:alpha val="4000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912864" y="39502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50" dirty="0"/>
          </a:p>
        </p:txBody>
      </p:sp>
      <p:sp>
        <p:nvSpPr>
          <p:cNvPr id="83" name="Shape 80"/>
          <p:cNvSpPr/>
          <p:nvPr/>
        </p:nvSpPr>
        <p:spPr>
          <a:xfrm>
            <a:off x="8229600" y="3749040"/>
            <a:ext cx="1261872" cy="640080"/>
          </a:xfrm>
          <a:prstGeom prst="rect">
            <a:avLst/>
          </a:prstGeom>
          <a:solidFill>
            <a:srgbClr val="4CA6FF">
              <a:alpha val="9000"/>
            </a:srgbClr>
          </a:solidFill>
          <a:ln w="12700">
            <a:solidFill>
              <a:srgbClr val="4CA6FF">
                <a:alpha val="4000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302752" y="39502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850" dirty="0"/>
          </a:p>
        </p:txBody>
      </p:sp>
      <p:sp>
        <p:nvSpPr>
          <p:cNvPr id="85" name="Shape 82"/>
          <p:cNvSpPr/>
          <p:nvPr/>
        </p:nvSpPr>
        <p:spPr>
          <a:xfrm>
            <a:off x="9619488" y="3749040"/>
            <a:ext cx="1261872" cy="640080"/>
          </a:xfrm>
          <a:prstGeom prst="rect">
            <a:avLst/>
          </a:prstGeom>
          <a:solidFill>
            <a:srgbClr val="4CA6FF">
              <a:alpha val="9000"/>
            </a:srgbClr>
          </a:solidFill>
          <a:ln w="12700">
            <a:solidFill>
              <a:srgbClr val="4CA6FF">
                <a:alpha val="4000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692640" y="39502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EF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389120" y="4526280"/>
            <a:ext cx="6858000" cy="0"/>
          </a:xfrm>
          <a:prstGeom prst="line">
            <a:avLst/>
          </a:prstGeom>
          <a:noFill/>
          <a:ln w="7620">
            <a:solidFill>
              <a:srgbClr val="35352F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35508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81812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9281160" y="4773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700" dirty="0"/>
          </a:p>
        </p:txBody>
      </p:sp>
      <p:sp>
        <p:nvSpPr>
          <p:cNvPr id="91" name="Shape 88"/>
          <p:cNvSpPr/>
          <p:nvPr/>
        </p:nvSpPr>
        <p:spPr>
          <a:xfrm>
            <a:off x="640080" y="5257800"/>
            <a:ext cx="10607040" cy="493776"/>
          </a:xfrm>
          <a:prstGeom prst="rect">
            <a:avLst/>
          </a:prstGeom>
          <a:solidFill>
            <a:srgbClr val="4CA6FF">
              <a:alpha val="8000"/>
            </a:srgbClr>
          </a:solidFill>
          <a:ln w="12700">
            <a:solidFill>
              <a:srgbClr val="4CA6FF">
                <a:alpha val="30000"/>
              </a:srgbClr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960120" y="537667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4C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تنتهي بتسليم يمكن رؤيته أو تجربته — مش عنوان «خلصنا المحتوى».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6766E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Phantoms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Phantoms — First Assembly 2026</dc:title>
  <dc:subject>الخطة الكاملة لأول اجتماع لفريق Phantoms</dc:subject>
  <dc:creator>Phantoms Team</dc:creator>
  <cp:lastModifiedBy>Phantoms Team</cp:lastModifiedBy>
  <cp:revision>1</cp:revision>
  <dcterms:created xsi:type="dcterms:W3CDTF">2026-09-04T18:10:58Z</dcterms:created>
  <dcterms:modified xsi:type="dcterms:W3CDTF">2026-09-04T18:10:58Z</dcterms:modified>
</cp:coreProperties>
</file>